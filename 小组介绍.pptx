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officedocument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</Types>
</file>

<file path=_rels/.rels><?xml version="1.0" encoding="UTF-8" standalone="yes"?>
<Relationships xmlns="http://schemas.openxmlformats.org/package/2006/relationships">
<Relationship Id="rId1" Type="http://schemas.openxmlformats.org/officeDocument/2006/relationships/officeDocument" Target="ppt/presentation.xml"/>
<Relationship Id="rId2" Type="http://schemas.openxmlformats.org/package/2006/relationships/metadata/core-properties" Target="docProps/core.xml"/>
<Relationship Id="rId3" Type="http://schemas.openxmlformats.org/officeDocument/2006/relationships/extended-properties" Target="docProps/app.xml"/>
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>
  <p:sldMasterIdLst>
    <p:sldMasterId id="256" r:id="rIdSm"/>
  </p:sldMasterIdLst>
  <p:sldIdLst>
    <p:sldId id="2561" r:id="rIdSl1"/>
    <p:sldId id="2562" r:id="rIdSl2"/>
    <p:sldId id="2563" r:id="rIdSl3"/>
    <p:sldId id="2564" r:id="rIdSl4"/>
    <p:sldId id="2565" r:id="rIdSl5"/>
    <p:sldId id="2566" r:id="rIdSl6"/>
    <p:sldId id="2567" r:id="rIdSl7"/>
    <p:sldId id="2568" r:id="rIdSl8"/>
  </p:sldIdLst>
  <p:sldSz cx="12192000" cy="6858000"/>
  <p:notesSz cx="6858000" cy="9144000"/>
</p:presentation>
</file>

<file path=ppt/_rels/presentation.xml.rels><?xml version="1.0" encoding="UTF-8" standalone="yes"?>
<Relationships xmlns="http://schemas.openxmlformats.org/package/2006/relationships">
<Relationship Id="rIdSm" Type="http://schemas.openxmlformats.org/officeDocument/2006/relationships/slideMaster" Target="slideMasters/slideMaster1.xml"/>
<Relationship Id="rIdSl1" Type="http://schemas.openxmlformats.org/officeDocument/2006/relationships/slide" Target="slides/slide1.xml"/>
<Relationship Id="rIdSl2" Type="http://schemas.openxmlformats.org/officeDocument/2006/relationships/slide" Target="slides/slide2.xml"/>
<Relationship Id="rIdSl3" Type="http://schemas.openxmlformats.org/officeDocument/2006/relationships/slide" Target="slides/slide3.xml"/>
<Relationship Id="rIdSl4" Type="http://schemas.openxmlformats.org/officeDocument/2006/relationships/slide" Target="slides/slide4.xml"/>
<Relationship Id="rIdSl5" Type="http://schemas.openxmlformats.org/officeDocument/2006/relationships/slide" Target="slides/slide5.xml"/>
<Relationship Id="rIdSl6" Type="http://schemas.openxmlformats.org/officeDocument/2006/relationships/slide" Target="slides/slide6.xml"/>
<Relationship Id="rIdSl7" Type="http://schemas.openxmlformats.org/officeDocument/2006/relationships/slide" Target="slides/slide7.xml"/>
<Relationship Id="rIdSl8" Type="http://schemas.openxmlformats.org/officeDocument/2006/relationships/slide" Target="slides/slide8.xml"/>
</Relationships>
</file>

<file path=ppt/slideLayouts/slideLayout1.xml><?xml version="1.0" encoding="utf-8"?>
<p:sldLayout xmlns:p="http://schemas.openxmlformats.org/presentationml/2006/main" xmlns:a="http://schemas.openxmlformats.org/drawingml/2006/main" type="title">
  <p:cSld name="Blank">
    <p:spTree>
      <p:sp>
        <p:nvSpPr>
          <p:cNvPr id="1" name=""/>
          <p:cNvSpPr/>
          <p:nvPr/>
        </p:nvSpPr>
        <p:spPr>
          <a:xfrm>
            <a:off x="0" y="0"/>
            <a:ext cx="0" cy="0"/>
          </a:xfrm>
        </p:spPr>
        <p:txBody>
          <a:bodyPr/>
          <a:p/>
        </p:txBody>
      </p:sp>
    </p:spTree>
  </p:cSld>
</p:sldLayout>
</file>

<file path=ppt/slideMasters/_rels/slideMaster1.xml.rels><?xml version="1.0" encoding="UTF-8" standalone="yes"?>
<Relationships xmlns="http://schemas.openxmlformats.org/package/2006/relationships">
<Relationship Id="rId1" Type="http://schemas.openxmlformats.org/officeDocument/2006/relationships/slideLayout" Target="../slideLayouts/slideLayout1.xml"/>
<Relationship Id="rId2" Type="http://schemas.openxmlformats.org/officeDocument/2006/relationships/theme" Target="../theme/theme1.xml"/>
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80816"/>
        </a:solidFill>
      </p:bgPr>
    </p:bg>
    <p:spTree>
      <p:sp>
        <p:nvSpPr>
          <p:cNvPr id="1" name=""/>
          <p:cNvSpPr/>
          <p:nvPr/>
        </p:nvSpPr>
        <p:spPr>
          <a:xfrm>
            <a:off x="0" y="0"/>
            <a:ext cx="0" cy="0"/>
          </a:xfrm>
        </p:spPr>
        <p:txBody>
          <a:bodyPr/>
          <a:p/>
        </p:txBody>
      </p:sp>
    </p:spTree>
  </p:cSld>
  <p:sldLayoutIdLst>
    <p:sldLayoutId id="256" r:id="rId1"/>
  </p:sldLayoutIdLst>
</p:sldMaster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080816"/>
        </a:solidFill>
      </p:bgPr>
    </p:bg>
    <p:spTree>
      <p:sp>
        <p:nvSpPr>
          <p:cNvPr id="1" name=""/>
          <p:cNvSpPr/>
          <p:nvPr/>
        </p:nvSpPr>
        <p:spPr>
          <a:xfrm>
            <a:off x="0" y="0"/>
            <a:ext cx="12192000" cy="48000"/>
          </a:xfrm>
          <a:prstGeom prst="rect">
            <a:avLst/>
          </a:prstGeom>
          <a:solidFill>
            <a:srgbClr val="00C8FF">
              <a:alpha val="10000"/>
            </a:srgbClr>
          </a:solidFill>
        </p:spPr>
      </p:sp>
      <p:sp>
        <p:nvSpPr>
          <p:cNvPr id="2" name=""/>
          <p:cNvSpPr/>
          <p:nvPr/>
        </p:nvSpPr>
        <p:spPr>
          <a:xfrm>
            <a:off x="5656000" y="1429000"/>
            <a:ext cx="880000" cy="880000"/>
          </a:xfrm>
          <a:prstGeom prst="rect">
            <a:avLst/>
          </a:prstGeom>
          <a:solidFill>
            <a:srgbClr val="00C8FF">
              <a:alpha val="800"/>
            </a:srgbClr>
          </a:solidFill>
        </p:spPr>
      </p:sp>
      <p:sp>
        <p:nvSpPr>
          <p:cNvPr id="3" name=""/>
          <p:cNvSpPr txBox="1"/>
          <p:nvPr/>
        </p:nvSpPr>
        <p:spPr>
          <a:xfrm>
            <a:off x="5676000" y="1489000"/>
            <a:ext cx="840000" cy="840000"/>
          </a:xfrm>
          <a:prstGeom prst="rect">
            <a:avLst/>
          </a:prstGeom>
        </p:spPr>
        <p:txBody>
          <a:bodyPr wrap="square"/>
          <a:lstStyle/>
          <a:p>
            <a:pPr algn="ctr"/>
            <a:r>
              <a:rPr lang="zh-CN" sz="4800" b="1">
                <a:solidFill>
                  <a:srgbClr val="FFFFFF"/>
                </a:solidFill>
              </a:rPr>
              <a:t>N</a:t>
            </a:r>
          </a:p>
        </p:txBody>
      </p:sp>
      <p:sp>
        <p:nvSpPr>
          <p:cNvPr id="10" name=""/>
          <p:cNvSpPr txBox="1"/>
          <p:nvPr/>
        </p:nvSpPr>
        <p:spPr>
          <a:xfrm>
            <a:off x="2596000" y="2729000"/>
            <a:ext cx="7000000" cy="800000"/>
          </a:xfrm>
          <a:prstGeom prst="rect">
            <a:avLst/>
          </a:prstGeom>
        </p:spPr>
        <p:txBody>
          <a:bodyPr wrap="square"/>
          <a:lstStyle/>
          <a:p>
            <a:pPr algn="ctr"/>
            <a:r>
              <a:rPr lang="zh-CN" sz="4400" b="1">
                <a:solidFill>
                  <a:srgbClr val="FFFFFF"/>
                </a:solidFill>
              </a:rPr>
              <a:t>星核创研</a:t>
            </a:r>
          </a:p>
        </p:txBody>
      </p:sp>
      <p:sp>
        <p:nvSpPr>
          <p:cNvPr id="11" name=""/>
          <p:cNvSpPr txBox="1"/>
          <p:nvPr/>
        </p:nvSpPr>
        <p:spPr>
          <a:xfrm>
            <a:off x="2596000" y="3429000"/>
            <a:ext cx="7000000" cy="400000"/>
          </a:xfrm>
          <a:prstGeom prst="rect">
            <a:avLst/>
          </a:prstGeom>
        </p:spPr>
        <p:txBody>
          <a:bodyPr wrap="square"/>
          <a:lstStyle/>
          <a:p>
            <a:pPr algn="ctr"/>
            <a:r>
              <a:rPr lang="zh-CN" sz="1600">
                <a:solidFill>
                  <a:srgbClr val="A0A0BB"/>
                </a:solidFill>
              </a:rPr>
              <a:t>NOVACORE LAB</a:t>
            </a:r>
          </a:p>
        </p:txBody>
      </p:sp>
      <p:sp>
        <p:nvSpPr>
          <p:cNvPr id="12" name=""/>
          <p:cNvSpPr/>
          <p:nvPr/>
        </p:nvSpPr>
        <p:spPr>
          <a:xfrm>
            <a:off x="5296000" y="4029000"/>
            <a:ext cx="1600000" cy="40000"/>
          </a:xfrm>
          <a:prstGeom prst="rect">
            <a:avLst/>
          </a:prstGeom>
          <a:solidFill>
            <a:srgbClr val="00C8FF">
              <a:alpha val="10000"/>
            </a:srgbClr>
          </a:solidFill>
        </p:spPr>
      </p:sp>
      <p:sp>
        <p:nvSpPr>
          <p:cNvPr id="13" name=""/>
          <p:cNvSpPr txBox="1"/>
          <p:nvPr/>
        </p:nvSpPr>
        <p:spPr>
          <a:xfrm>
            <a:off x="2596000" y="4229000"/>
            <a:ext cx="7000000" cy="500000"/>
          </a:xfrm>
          <a:prstGeom prst="rect">
            <a:avLst/>
          </a:prstGeom>
        </p:spPr>
        <p:txBody>
          <a:bodyPr wrap="square"/>
          <a:lstStyle/>
          <a:p>
            <a:pPr algn="ctr"/>
            <a:r>
              <a:rPr lang="zh-CN" sz="2200" b="1">
                <a:solidFill>
                  <a:srgbClr val="00C8FF"/>
                </a:solidFill>
              </a:rPr>
              <a:t>聚星成核  创见未来</a:t>
            </a:r>
          </a:p>
        </p:txBody>
      </p:sp>
      <p:sp>
        <p:nvSpPr>
          <p:cNvPr id="14" name=""/>
          <p:cNvSpPr txBox="1"/>
          <p:nvPr/>
        </p:nvSpPr>
        <p:spPr>
          <a:xfrm>
            <a:off x="2596000" y="4929000"/>
            <a:ext cx="7000000" cy="300000"/>
          </a:xfrm>
          <a:prstGeom prst="rect">
            <a:avLst/>
          </a:prstGeom>
        </p:spPr>
        <p:txBody>
          <a:bodyPr wrap="square"/>
          <a:lstStyle/>
          <a:p>
            <a:pPr algn="ctr"/>
            <a:r>
              <a:rPr lang="zh-CN" sz="1400">
                <a:solidFill>
                  <a:srgbClr val="707090"/>
                </a:solidFill>
              </a:rPr>
              <a:t>企业实训  团队介绍</a:t>
            </a:r>
          </a:p>
        </p:txBody>
      </p:sp>
      <p:sp>
        <p:nvSpPr>
          <p:cNvPr id="15" name=""/>
          <p:cNvSpPr/>
          <p:nvPr/>
        </p:nvSpPr>
        <p:spPr>
          <a:xfrm>
            <a:off x="0" y="6798000"/>
            <a:ext cx="12192000" cy="48000"/>
          </a:xfrm>
          <a:prstGeom prst="rect">
            <a:avLst/>
          </a:prstGeom>
          <a:solidFill>
            <a:srgbClr val="00C8FF">
              <a:alpha val="10000"/>
            </a:srgbClr>
          </a:solidFill>
        </p:spPr>
      </p:sp>
    </p:spTree>
  </p:cSld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080816"/>
        </a:solidFill>
      </p:bgPr>
    </p:bg>
    <p:spTree>
      <p:sp>
        <p:nvSpPr>
          <p:cNvPr id="1" name=""/>
          <p:cNvSpPr/>
          <p:nvPr/>
        </p:nvSpPr>
        <p:spPr>
          <a:xfrm>
            <a:off x="0" y="0"/>
            <a:ext cx="12192000" cy="48000"/>
          </a:xfrm>
          <a:prstGeom prst="rect">
            <a:avLst/>
          </a:prstGeom>
          <a:solidFill>
            <a:srgbClr val="00C8FF">
              <a:alpha val="10000"/>
            </a:srgbClr>
          </a:solidFill>
        </p:spPr>
      </p:sp>
      <p:sp>
        <p:nvSpPr>
          <p:cNvPr id="2" name=""/>
          <p:cNvSpPr txBox="1"/>
          <p:nvPr/>
        </p:nvSpPr>
        <p:spPr>
          <a:xfrm>
            <a:off x="400000" y="300000"/>
            <a:ext cx="3000000" cy="600000"/>
          </a:xfrm>
          <a:prstGeom prst="rect">
            <a:avLst/>
          </a:prstGeom>
        </p:spPr>
        <p:txBody>
          <a:bodyPr wrap="square"/>
          <a:lstStyle/>
          <a:p>
            <a:pPr algn="l"/>
            <a:r>
              <a:rPr lang="zh-CN" sz="3200" b="1">
                <a:solidFill>
                  <a:srgbClr val="FFFFFF"/>
                </a:solidFill>
              </a:rPr>
              <a:t>我们是谁</a:t>
            </a:r>
          </a:p>
        </p:txBody>
      </p:sp>
      <p:sp>
        <p:nvSpPr>
          <p:cNvPr id="3" name=""/>
          <p:cNvSpPr/>
          <p:nvPr/>
        </p:nvSpPr>
        <p:spPr>
          <a:xfrm>
            <a:off x="400000" y="850000"/>
            <a:ext cx="800000" cy="36000"/>
          </a:xfrm>
          <a:prstGeom prst="rect">
            <a:avLst/>
          </a:prstGeom>
          <a:solidFill>
            <a:srgbClr val="00C8FF">
              <a:alpha val="10000"/>
            </a:srgbClr>
          </a:solidFill>
        </p:spPr>
      </p:sp>
      <p:sp>
        <p:nvSpPr>
          <p:cNvPr id="4" name=""/>
          <p:cNvSpPr txBox="1"/>
          <p:nvPr/>
        </p:nvSpPr>
        <p:spPr>
          <a:xfrm>
            <a:off x="400000" y="1100000"/>
            <a:ext cx="5500000" cy="4800000"/>
          </a:xfrm>
          <a:prstGeom prst="rect">
            <a:avLst/>
          </a:prstGeom>
        </p:spPr>
        <p:txBody>
          <a:bodyPr wrap="square"/>
          <a:lstStyle/>
          <a:p>
            <a:pPr algn="l"/>
            <a:r>
              <a:rPr lang="zh-CN" sz="1800">
                <a:solidFill>
                  <a:srgbClr val="FFFFFF"/>
                </a:solidFill>
              </a:rPr>
              <a:t>星核创研（NovaCore Lab）是一支由高校学子组成的</a:t>
            </a:r>
          </a:p>
          <a:p>
            <a:pPr algn="l"/>
            <a:r>
              <a:rPr lang="zh-CN" sz="1800">
                <a:solidFill>
                  <a:srgbClr val="FFFFFF"/>
                </a:solidFill>
              </a:rPr>
              <a:t>创新创业实干型团队。</a:t>
            </a:r>
          </a:p>
          <a:p>
            <a:pPr algn="l"/>
            <a:r>
              <a:rPr lang="zh-CN" sz="1000">
                <a:solidFill>
                  <a:srgbClr val="FFFFFF"/>
                </a:solidFill>
              </a:rPr>
              <a:t/>
            </a:r>
          </a:p>
          <a:p>
            <a:pPr algn="l"/>
            <a:r>
              <a:rPr lang="zh-CN" sz="1600">
                <a:solidFill>
                  <a:srgbClr val="A0A0BB"/>
                </a:solidFill>
              </a:rPr>
              <a:t>成立于2026年，成员来自多学科背景。以项目实战为</a:t>
            </a:r>
          </a:p>
          <a:p>
            <a:pPr algn="l"/>
            <a:r>
              <a:rPr lang="zh-CN" sz="1600">
                <a:solidFill>
                  <a:srgbClr val="A0A0BB"/>
                </a:solidFill>
              </a:rPr>
              <a:t>核心驱动力，覆盖品牌策划、Web开发、数据分析、</a:t>
            </a:r>
          </a:p>
          <a:p>
            <a:pPr algn="l"/>
            <a:r>
              <a:rPr lang="zh-CN" sz="1600">
                <a:solidFill>
                  <a:srgbClr val="A0A0BB"/>
                </a:solidFill>
              </a:rPr>
              <a:t>UI设计、项目管理等方向。</a:t>
            </a:r>
          </a:p>
          <a:p>
            <a:pPr algn="l"/>
            <a:r>
              <a:rPr lang="zh-CN" sz="1000">
                <a:solidFill>
                  <a:srgbClr val="FFFFFF"/>
                </a:solidFill>
              </a:rPr>
              <a:t/>
            </a:r>
          </a:p>
          <a:p>
            <a:pPr algn="l"/>
            <a:r>
              <a:rPr lang="zh-CN" sz="1600">
                <a:solidFill>
                  <a:srgbClr val="A0A0BB"/>
                </a:solidFill>
              </a:rPr>
              <a:t>坚持"以核心能力点燃创新爆发"，致力于在每一次</a:t>
            </a:r>
          </a:p>
          <a:p>
            <a:pPr algn="l"/>
            <a:r>
              <a:rPr lang="zh-CN" sz="1600">
                <a:solidFill>
                  <a:srgbClr val="A0A0BB"/>
                </a:solidFill>
              </a:rPr>
              <a:t>实训和项目交付中超越预期。</a:t>
            </a:r>
          </a:p>
          <a:p>
            <a:pPr algn="l"/>
            <a:r>
              <a:rPr lang="zh-CN" sz="1200">
                <a:solidFill>
                  <a:srgbClr val="FFFFFF"/>
                </a:solidFill>
              </a:rPr>
              <a:t/>
            </a:r>
          </a:p>
          <a:p>
            <a:pPr algn="l"/>
            <a:r>
              <a:rPr lang="zh-CN" sz="1600">
                <a:solidFill>
                  <a:srgbClr val="00C8FF"/>
                </a:solidFill>
              </a:rPr>
              <a:t>不做纸上谈兵的理论派——</a:t>
            </a:r>
          </a:p>
          <a:p>
            <a:pPr algn="l"/>
            <a:r>
              <a:rPr lang="zh-CN" sz="1600">
                <a:solidFill>
                  <a:srgbClr val="00C8FF"/>
                </a:solidFill>
              </a:rPr>
              <a:t>用行动说话，用结果证明。</a:t>
            </a:r>
          </a:p>
        </p:txBody>
      </p:sp>
      <p:sp>
        <p:nvSpPr>
          <p:cNvPr id="10" name=""/>
          <p:cNvSpPr/>
          <p:nvPr/>
        </p:nvSpPr>
        <p:spPr>
          <a:xfrm>
            <a:off x="7200000" y="1800000"/>
            <a:ext cx="3200000" cy="3200000"/>
          </a:xfrm>
          <a:prstGeom prst="rect">
            <a:avLst/>
          </a:prstGeom>
          <a:solidFill>
            <a:srgbClr val="7B3FFF">
              <a:alpha val="1000"/>
            </a:srgbClr>
          </a:solidFill>
        </p:spPr>
      </p:sp>
      <p:sp>
        <p:nvSpPr>
          <p:cNvPr id="11" name=""/>
          <p:cNvSpPr txBox="1"/>
          <p:nvPr/>
        </p:nvSpPr>
        <p:spPr>
          <a:xfrm>
            <a:off x="7300000" y="2600000"/>
            <a:ext cx="3000000" cy="1600000"/>
          </a:xfrm>
          <a:prstGeom prst="rect">
            <a:avLst/>
          </a:prstGeom>
        </p:spPr>
        <p:txBody>
          <a:bodyPr wrap="square"/>
          <a:lstStyle/>
          <a:p>
            <a:pPr algn="ctr"/>
            <a:r>
              <a:rPr lang="zh-CN" sz="6400" b="1">
                <a:solidFill>
                  <a:srgbClr val="FFFFFF"/>
                </a:solidFill>
              </a:rPr>
              <a:t>✦</a:t>
            </a:r>
          </a:p>
          <a:p>
            <a:pPr algn="ctr"/>
            <a:r>
              <a:rPr lang="zh-CN" sz="1400">
                <a:solidFill>
                  <a:srgbClr val="A0A0BB"/>
                </a:solidFill>
              </a:rPr>
              <a:t>NovaCore</a:t>
            </a:r>
          </a:p>
          <a:p>
            <a:pPr algn="ctr"/>
            <a:r>
              <a:rPr lang="zh-CN" sz="1400">
                <a:solidFill>
                  <a:srgbClr val="A0A0BB"/>
                </a:solidFill>
              </a:rPr>
              <a:t>Lab</a:t>
            </a:r>
          </a:p>
        </p:txBody>
      </p:sp>
    </p:spTree>
  </p:cSld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080816"/>
        </a:solidFill>
      </p:bgPr>
    </p:bg>
    <p:spTree>
      <p:sp>
        <p:nvSpPr>
          <p:cNvPr id="1" name=""/>
          <p:cNvSpPr/>
          <p:nvPr/>
        </p:nvSpPr>
        <p:spPr>
          <a:xfrm>
            <a:off x="0" y="0"/>
            <a:ext cx="12192000" cy="48000"/>
          </a:xfrm>
          <a:prstGeom prst="rect">
            <a:avLst/>
          </a:prstGeom>
          <a:solidFill>
            <a:srgbClr val="00C8FF">
              <a:alpha val="10000"/>
            </a:srgbClr>
          </a:solidFill>
        </p:spPr>
      </p:sp>
      <p:sp>
        <p:nvSpPr>
          <p:cNvPr id="2" name=""/>
          <p:cNvSpPr txBox="1"/>
          <p:nvPr/>
        </p:nvSpPr>
        <p:spPr>
          <a:xfrm>
            <a:off x="400000" y="300000"/>
            <a:ext cx="3000000" cy="600000"/>
          </a:xfrm>
          <a:prstGeom prst="rect">
            <a:avLst/>
          </a:prstGeom>
        </p:spPr>
        <p:txBody>
          <a:bodyPr wrap="square"/>
          <a:lstStyle/>
          <a:p>
            <a:pPr algn="l"/>
            <a:r>
              <a:rPr lang="zh-CN" sz="3200" b="1">
                <a:solidFill>
                  <a:srgbClr val="FFFFFF"/>
                </a:solidFill>
              </a:rPr>
              <a:t>品牌理念</a:t>
            </a:r>
          </a:p>
        </p:txBody>
      </p:sp>
      <p:sp>
        <p:nvSpPr>
          <p:cNvPr id="3" name=""/>
          <p:cNvSpPr/>
          <p:nvPr/>
        </p:nvSpPr>
        <p:spPr>
          <a:xfrm>
            <a:off x="400000" y="850000"/>
            <a:ext cx="800000" cy="36000"/>
          </a:xfrm>
          <a:prstGeom prst="rect">
            <a:avLst/>
          </a:prstGeom>
          <a:solidFill>
            <a:srgbClr val="00C8FF">
              <a:alpha val="10000"/>
            </a:srgbClr>
          </a:solidFill>
        </p:spPr>
      </p:sp>
      <p:sp>
        <p:nvSpPr>
          <p:cNvPr id="10" name=""/>
          <p:cNvSpPr/>
          <p:nvPr/>
        </p:nvSpPr>
        <p:spPr>
          <a:xfrm>
            <a:off x="400000" y="1200000"/>
            <a:ext cx="5500000" cy="700000"/>
          </a:xfrm>
          <a:prstGeom prst="rect">
            <a:avLst/>
          </a:prstGeom>
          <a:solidFill>
            <a:srgbClr val="00C8FF">
              <a:alpha val="1000"/>
            </a:srgbClr>
          </a:solidFill>
        </p:spPr>
      </p:sp>
      <p:sp>
        <p:nvSpPr>
          <p:cNvPr id="11" name=""/>
          <p:cNvSpPr txBox="1"/>
          <p:nvPr/>
        </p:nvSpPr>
        <p:spPr>
          <a:xfrm>
            <a:off x="600000" y="1300000"/>
            <a:ext cx="5200000" cy="500000"/>
          </a:xfrm>
          <a:prstGeom prst="rect">
            <a:avLst/>
          </a:prstGeom>
        </p:spPr>
        <p:txBody>
          <a:bodyPr wrap="square"/>
          <a:lstStyle/>
          <a:p>
            <a:pPr algn="l"/>
            <a:r>
              <a:rPr lang="zh-CN" sz="1400">
                <a:solidFill>
                  <a:srgbClr val="00C8FF"/>
                </a:solidFill>
              </a:rPr>
              <a:t>使  命</a:t>
            </a:r>
          </a:p>
          <a:p>
            <a:pPr algn="l"/>
            <a:r>
              <a:rPr lang="zh-CN" sz="2400" b="1">
                <a:solidFill>
                  <a:srgbClr val="FFFFFF"/>
                </a:solidFill>
              </a:rPr>
              <a:t>让每一个创意都有落地的能力</a:t>
            </a:r>
          </a:p>
        </p:txBody>
      </p:sp>
      <p:sp>
        <p:nvSpPr>
          <p:cNvPr id="20" name=""/>
          <p:cNvSpPr/>
          <p:nvPr/>
        </p:nvSpPr>
        <p:spPr>
          <a:xfrm>
            <a:off x="400000" y="2100000"/>
            <a:ext cx="5500000" cy="700000"/>
          </a:xfrm>
          <a:prstGeom prst="rect">
            <a:avLst/>
          </a:prstGeom>
          <a:solidFill>
            <a:srgbClr val="7B3FFF">
              <a:alpha val="1000"/>
            </a:srgbClr>
          </a:solidFill>
        </p:spPr>
      </p:sp>
      <p:sp>
        <p:nvSpPr>
          <p:cNvPr id="21" name=""/>
          <p:cNvSpPr txBox="1"/>
          <p:nvPr/>
        </p:nvSpPr>
        <p:spPr>
          <a:xfrm>
            <a:off x="600000" y="2200000"/>
            <a:ext cx="5200000" cy="500000"/>
          </a:xfrm>
          <a:prstGeom prst="rect">
            <a:avLst/>
          </a:prstGeom>
        </p:spPr>
        <p:txBody>
          <a:bodyPr wrap="square"/>
          <a:lstStyle/>
          <a:p>
            <a:pPr algn="l"/>
            <a:r>
              <a:rPr lang="zh-CN" sz="1400">
                <a:solidFill>
                  <a:srgbClr val="7B3FFF"/>
                </a:solidFill>
              </a:rPr>
              <a:t>愿  景</a:t>
            </a:r>
          </a:p>
          <a:p>
            <a:pPr algn="l"/>
            <a:r>
              <a:rPr lang="zh-CN" sz="2400" b="1">
                <a:solidFill>
                  <a:srgbClr val="FFFFFF"/>
                </a:solidFill>
              </a:rPr>
              <a:t>成为高校创新创业实训的标杆团队</a:t>
            </a:r>
          </a:p>
        </p:txBody>
      </p:sp>
      <p:sp>
        <p:nvSpPr>
          <p:cNvPr id="100" name=""/>
          <p:cNvSpPr/>
          <p:nvPr/>
        </p:nvSpPr>
        <p:spPr>
          <a:xfrm>
            <a:off x="300000" y="3300000"/>
            <a:ext cx="2600000" cy="1600000"/>
          </a:xfrm>
          <a:prstGeom prst="rect">
            <a:avLst/>
          </a:prstGeom>
          <a:solidFill>
            <a:srgbClr val="00C8FF">
              <a:alpha val="800"/>
            </a:srgbClr>
          </a:solidFill>
        </p:spPr>
      </p:sp>
      <p:sp>
        <p:nvSpPr>
          <p:cNvPr id="110" name=""/>
          <p:cNvSpPr txBox="1"/>
          <p:nvPr/>
        </p:nvSpPr>
        <p:spPr>
          <a:xfrm>
            <a:off x="440000" y="3440000"/>
            <a:ext cx="2320000" cy="360000"/>
          </a:xfrm>
          <a:prstGeom prst="rect">
            <a:avLst/>
          </a:prstGeom>
        </p:spPr>
        <p:txBody>
          <a:bodyPr wrap="square"/>
          <a:lstStyle/>
          <a:p>
            <a:pPr algn="l"/>
            <a:r>
              <a:rPr lang="zh-CN" sz="2600" b="1">
                <a:solidFill>
                  <a:srgbClr val="FFFFFF"/>
                </a:solidFill>
              </a:rPr>
              <a:t>⚡</a:t>
            </a:r>
          </a:p>
        </p:txBody>
      </p:sp>
      <p:sp>
        <p:nvSpPr>
          <p:cNvPr id="120" name=""/>
          <p:cNvSpPr txBox="1"/>
          <p:nvPr/>
        </p:nvSpPr>
        <p:spPr>
          <a:xfrm>
            <a:off x="440000" y="3780000"/>
            <a:ext cx="2320000" cy="360000"/>
          </a:xfrm>
          <a:prstGeom prst="rect">
            <a:avLst/>
          </a:prstGeom>
        </p:spPr>
        <p:txBody>
          <a:bodyPr wrap="square"/>
          <a:lstStyle/>
          <a:p>
            <a:pPr algn="l"/>
            <a:r>
              <a:rPr lang="zh-CN" sz="2000" b="1">
                <a:solidFill>
                  <a:srgbClr val="FFFFFF"/>
                </a:solidFill>
              </a:rPr>
              <a:t>执行第一</a:t>
            </a:r>
          </a:p>
        </p:txBody>
      </p:sp>
      <p:sp>
        <p:nvSpPr>
          <p:cNvPr id="130" name=""/>
          <p:cNvSpPr txBox="1"/>
          <p:nvPr/>
        </p:nvSpPr>
        <p:spPr>
          <a:xfrm>
            <a:off x="440000" y="4150000"/>
            <a:ext cx="2320000" cy="550000"/>
          </a:xfrm>
          <a:prstGeom prst="rect">
            <a:avLst/>
          </a:prstGeom>
        </p:spPr>
        <p:txBody>
          <a:bodyPr wrap="square"/>
          <a:lstStyle/>
          <a:p>
            <a:pPr algn="l"/>
            <a:r>
              <a:rPr lang="zh-CN" sz="1300">
                <a:solidFill>
                  <a:srgbClr val="A0A0BB"/>
                </a:solidFill>
              </a:rPr>
              <a:t>想法不值钱，交付才值钱。每个承诺都有截止</a:t>
            </a:r>
          </a:p>
          <a:p>
            <a:pPr algn="l"/>
            <a:r>
              <a:rPr lang="zh-CN" sz="1300">
                <a:solidFill>
                  <a:srgbClr val="A0A0BB"/>
                </a:solidFill>
              </a:rPr>
              <a:t>时间。</a:t>
            </a:r>
          </a:p>
        </p:txBody>
      </p:sp>
      <p:sp>
        <p:nvSpPr>
          <p:cNvPr id="110" name=""/>
          <p:cNvSpPr/>
          <p:nvPr/>
        </p:nvSpPr>
        <p:spPr>
          <a:xfrm>
            <a:off x="3020000" y="3300000"/>
            <a:ext cx="2600000" cy="1600000"/>
          </a:xfrm>
          <a:prstGeom prst="rect">
            <a:avLst/>
          </a:prstGeom>
          <a:solidFill>
            <a:srgbClr val="7B3FFF">
              <a:alpha val="800"/>
            </a:srgbClr>
          </a:solidFill>
        </p:spPr>
      </p:sp>
      <p:sp>
        <p:nvSpPr>
          <p:cNvPr id="111" name=""/>
          <p:cNvSpPr txBox="1"/>
          <p:nvPr/>
        </p:nvSpPr>
        <p:spPr>
          <a:xfrm>
            <a:off x="3160000" y="3440000"/>
            <a:ext cx="2320000" cy="360000"/>
          </a:xfrm>
          <a:prstGeom prst="rect">
            <a:avLst/>
          </a:prstGeom>
        </p:spPr>
        <p:txBody>
          <a:bodyPr wrap="square"/>
          <a:lstStyle/>
          <a:p>
            <a:pPr algn="l"/>
            <a:r>
              <a:rPr lang="zh-CN" sz="2600" b="1">
                <a:solidFill>
                  <a:srgbClr val="FFFFFF"/>
                </a:solidFill>
              </a:rPr>
              <a:t>💡</a:t>
            </a:r>
          </a:p>
        </p:txBody>
      </p:sp>
      <p:sp>
        <p:nvSpPr>
          <p:cNvPr id="121" name=""/>
          <p:cNvSpPr txBox="1"/>
          <p:nvPr/>
        </p:nvSpPr>
        <p:spPr>
          <a:xfrm>
            <a:off x="3160000" y="3780000"/>
            <a:ext cx="2320000" cy="360000"/>
          </a:xfrm>
          <a:prstGeom prst="rect">
            <a:avLst/>
          </a:prstGeom>
        </p:spPr>
        <p:txBody>
          <a:bodyPr wrap="square"/>
          <a:lstStyle/>
          <a:p>
            <a:pPr algn="l"/>
            <a:r>
              <a:rPr lang="zh-CN" sz="2000" b="1">
                <a:solidFill>
                  <a:srgbClr val="FFFFFF"/>
                </a:solidFill>
              </a:rPr>
              <a:t>创新驱动</a:t>
            </a:r>
          </a:p>
        </p:txBody>
      </p:sp>
      <p:sp>
        <p:nvSpPr>
          <p:cNvPr id="131" name=""/>
          <p:cNvSpPr txBox="1"/>
          <p:nvPr/>
        </p:nvSpPr>
        <p:spPr>
          <a:xfrm>
            <a:off x="3160000" y="4150000"/>
            <a:ext cx="2320000" cy="550000"/>
          </a:xfrm>
          <a:prstGeom prst="rect">
            <a:avLst/>
          </a:prstGeom>
        </p:spPr>
        <p:txBody>
          <a:bodyPr wrap="square"/>
          <a:lstStyle/>
          <a:p>
            <a:pPr algn="l"/>
            <a:r>
              <a:rPr lang="zh-CN" sz="1300">
                <a:solidFill>
                  <a:srgbClr val="A0A0BB"/>
                </a:solidFill>
              </a:rPr>
              <a:t>不满足于能做，追求做得不同。在成熟方案之</a:t>
            </a:r>
          </a:p>
          <a:p>
            <a:pPr algn="l"/>
            <a:r>
              <a:rPr lang="zh-CN" sz="1300">
                <a:solidFill>
                  <a:srgbClr val="A0A0BB"/>
                </a:solidFill>
              </a:rPr>
              <a:t>上寻找突破点。</a:t>
            </a:r>
          </a:p>
        </p:txBody>
      </p:sp>
      <p:sp>
        <p:nvSpPr>
          <p:cNvPr id="120" name=""/>
          <p:cNvSpPr/>
          <p:nvPr/>
        </p:nvSpPr>
        <p:spPr>
          <a:xfrm>
            <a:off x="5740000" y="3300000"/>
            <a:ext cx="2600000" cy="1600000"/>
          </a:xfrm>
          <a:prstGeom prst="rect">
            <a:avLst/>
          </a:prstGeom>
          <a:solidFill>
            <a:srgbClr val="00C8FF">
              <a:alpha val="800"/>
            </a:srgbClr>
          </a:solidFill>
        </p:spPr>
      </p:sp>
      <p:sp>
        <p:nvSpPr>
          <p:cNvPr id="112" name=""/>
          <p:cNvSpPr txBox="1"/>
          <p:nvPr/>
        </p:nvSpPr>
        <p:spPr>
          <a:xfrm>
            <a:off x="5880000" y="3440000"/>
            <a:ext cx="2320000" cy="360000"/>
          </a:xfrm>
          <a:prstGeom prst="rect">
            <a:avLst/>
          </a:prstGeom>
        </p:spPr>
        <p:txBody>
          <a:bodyPr wrap="square"/>
          <a:lstStyle/>
          <a:p>
            <a:pPr algn="l"/>
            <a:r>
              <a:rPr lang="zh-CN" sz="2600" b="1">
                <a:solidFill>
                  <a:srgbClr val="FFFFFF"/>
                </a:solidFill>
              </a:rPr>
              <a:t>🤝</a:t>
            </a:r>
          </a:p>
        </p:txBody>
      </p:sp>
      <p:sp>
        <p:nvSpPr>
          <p:cNvPr id="122" name=""/>
          <p:cNvSpPr txBox="1"/>
          <p:nvPr/>
        </p:nvSpPr>
        <p:spPr>
          <a:xfrm>
            <a:off x="5880000" y="3780000"/>
            <a:ext cx="2320000" cy="360000"/>
          </a:xfrm>
          <a:prstGeom prst="rect">
            <a:avLst/>
          </a:prstGeom>
        </p:spPr>
        <p:txBody>
          <a:bodyPr wrap="square"/>
          <a:lstStyle/>
          <a:p>
            <a:pPr algn="l"/>
            <a:r>
              <a:rPr lang="zh-CN" sz="2000" b="1">
                <a:solidFill>
                  <a:srgbClr val="FFFFFF"/>
                </a:solidFill>
              </a:rPr>
              <a:t>协作共赢</a:t>
            </a:r>
          </a:p>
        </p:txBody>
      </p:sp>
      <p:sp>
        <p:nvSpPr>
          <p:cNvPr id="132" name=""/>
          <p:cNvSpPr txBox="1"/>
          <p:nvPr/>
        </p:nvSpPr>
        <p:spPr>
          <a:xfrm>
            <a:off x="5880000" y="4150000"/>
            <a:ext cx="2320000" cy="550000"/>
          </a:xfrm>
          <a:prstGeom prst="rect">
            <a:avLst/>
          </a:prstGeom>
        </p:spPr>
        <p:txBody>
          <a:bodyPr wrap="square"/>
          <a:lstStyle/>
          <a:p>
            <a:pPr algn="l"/>
            <a:r>
              <a:rPr lang="zh-CN" sz="1300">
                <a:solidFill>
                  <a:srgbClr val="A0A0BB"/>
                </a:solidFill>
              </a:rPr>
              <a:t>1+1&gt;2，团队是最强杠杆。把后背交给队</a:t>
            </a:r>
          </a:p>
          <a:p>
            <a:pPr algn="l"/>
            <a:r>
              <a:rPr lang="zh-CN" sz="1300">
                <a:solidFill>
                  <a:srgbClr val="A0A0BB"/>
                </a:solidFill>
              </a:rPr>
              <a:t>友。</a:t>
            </a:r>
          </a:p>
        </p:txBody>
      </p:sp>
      <p:sp>
        <p:nvSpPr>
          <p:cNvPr id="130" name=""/>
          <p:cNvSpPr/>
          <p:nvPr/>
        </p:nvSpPr>
        <p:spPr>
          <a:xfrm>
            <a:off x="8460000" y="3300000"/>
            <a:ext cx="2600000" cy="1600000"/>
          </a:xfrm>
          <a:prstGeom prst="rect">
            <a:avLst/>
          </a:prstGeom>
          <a:solidFill>
            <a:srgbClr val="7B3FFF">
              <a:alpha val="800"/>
            </a:srgbClr>
          </a:solidFill>
        </p:spPr>
      </p:sp>
      <p:sp>
        <p:nvSpPr>
          <p:cNvPr id="113" name=""/>
          <p:cNvSpPr txBox="1"/>
          <p:nvPr/>
        </p:nvSpPr>
        <p:spPr>
          <a:xfrm>
            <a:off x="8600000" y="3440000"/>
            <a:ext cx="2320000" cy="360000"/>
          </a:xfrm>
          <a:prstGeom prst="rect">
            <a:avLst/>
          </a:prstGeom>
        </p:spPr>
        <p:txBody>
          <a:bodyPr wrap="square"/>
          <a:lstStyle/>
          <a:p>
            <a:pPr algn="l"/>
            <a:r>
              <a:rPr lang="zh-CN" sz="2600" b="1">
                <a:solidFill>
                  <a:srgbClr val="FFFFFF"/>
                </a:solidFill>
              </a:rPr>
              <a:t>📈</a:t>
            </a:r>
          </a:p>
        </p:txBody>
      </p:sp>
      <p:sp>
        <p:nvSpPr>
          <p:cNvPr id="123" name=""/>
          <p:cNvSpPr txBox="1"/>
          <p:nvPr/>
        </p:nvSpPr>
        <p:spPr>
          <a:xfrm>
            <a:off x="8600000" y="3780000"/>
            <a:ext cx="2320000" cy="360000"/>
          </a:xfrm>
          <a:prstGeom prst="rect">
            <a:avLst/>
          </a:prstGeom>
        </p:spPr>
        <p:txBody>
          <a:bodyPr wrap="square"/>
          <a:lstStyle/>
          <a:p>
            <a:pPr algn="l"/>
            <a:r>
              <a:rPr lang="zh-CN" sz="2000" b="1">
                <a:solidFill>
                  <a:srgbClr val="FFFFFF"/>
                </a:solidFill>
              </a:rPr>
              <a:t>持续精进</a:t>
            </a:r>
          </a:p>
        </p:txBody>
      </p:sp>
      <p:sp>
        <p:nvSpPr>
          <p:cNvPr id="133" name=""/>
          <p:cNvSpPr txBox="1"/>
          <p:nvPr/>
        </p:nvSpPr>
        <p:spPr>
          <a:xfrm>
            <a:off x="8600000" y="4150000"/>
            <a:ext cx="2320000" cy="550000"/>
          </a:xfrm>
          <a:prstGeom prst="rect">
            <a:avLst/>
          </a:prstGeom>
        </p:spPr>
        <p:txBody>
          <a:bodyPr wrap="square"/>
          <a:lstStyle/>
          <a:p>
            <a:pPr algn="l"/>
            <a:r>
              <a:rPr lang="zh-CN" sz="1300">
                <a:solidFill>
                  <a:srgbClr val="A0A0BB"/>
                </a:solidFill>
              </a:rPr>
              <a:t>每次交付比上次好10%。复盘是核心竞争力</a:t>
            </a:r>
          </a:p>
          <a:p>
            <a:pPr algn="l"/>
            <a:r>
              <a:rPr lang="zh-CN" sz="1300">
                <a:solidFill>
                  <a:srgbClr val="A0A0BB"/>
                </a:solidFill>
              </a:rPr>
              <a:t>。</a:t>
            </a:r>
          </a:p>
        </p:txBody>
      </p:sp>
    </p:spTree>
  </p:cSld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solidFill>
          <a:srgbClr val="080816"/>
        </a:solidFill>
      </p:bgPr>
    </p:bg>
    <p:spTree>
      <p:sp>
        <p:nvSpPr>
          <p:cNvPr id="1" name=""/>
          <p:cNvSpPr/>
          <p:nvPr/>
        </p:nvSpPr>
        <p:spPr>
          <a:xfrm>
            <a:off x="0" y="0"/>
            <a:ext cx="12192000" cy="48000"/>
          </a:xfrm>
          <a:prstGeom prst="rect">
            <a:avLst/>
          </a:prstGeom>
          <a:solidFill>
            <a:srgbClr val="00C8FF">
              <a:alpha val="10000"/>
            </a:srgbClr>
          </a:solidFill>
        </p:spPr>
      </p:sp>
      <p:sp>
        <p:nvSpPr>
          <p:cNvPr id="2" name=""/>
          <p:cNvSpPr txBox="1"/>
          <p:nvPr/>
        </p:nvSpPr>
        <p:spPr>
          <a:xfrm>
            <a:off x="400000" y="300000"/>
            <a:ext cx="3000000" cy="600000"/>
          </a:xfrm>
          <a:prstGeom prst="rect">
            <a:avLst/>
          </a:prstGeom>
        </p:spPr>
        <p:txBody>
          <a:bodyPr wrap="square"/>
          <a:lstStyle/>
          <a:p>
            <a:pPr algn="l"/>
            <a:r>
              <a:rPr lang="zh-CN" sz="3200" b="1">
                <a:solidFill>
                  <a:srgbClr val="FFFFFF"/>
                </a:solidFill>
              </a:rPr>
              <a:t>核心成员</a:t>
            </a:r>
          </a:p>
        </p:txBody>
      </p:sp>
      <p:sp>
        <p:nvSpPr>
          <p:cNvPr id="3" name=""/>
          <p:cNvSpPr/>
          <p:nvPr/>
        </p:nvSpPr>
        <p:spPr>
          <a:xfrm>
            <a:off x="400000" y="850000"/>
            <a:ext cx="800000" cy="36000"/>
          </a:xfrm>
          <a:prstGeom prst="rect">
            <a:avLst/>
          </a:prstGeom>
          <a:solidFill>
            <a:srgbClr val="00C8FF">
              <a:alpha val="10000"/>
            </a:srgbClr>
          </a:solidFill>
        </p:spPr>
      </p:sp>
      <p:sp>
        <p:nvSpPr>
          <p:cNvPr id="100" name=""/>
          <p:cNvSpPr/>
          <p:nvPr/>
        </p:nvSpPr>
        <p:spPr>
          <a:xfrm>
            <a:off x="250000" y="1300000"/>
            <a:ext cx="2700000" cy="3600000"/>
          </a:xfrm>
          <a:prstGeom prst="rect">
            <a:avLst/>
          </a:prstGeom>
          <a:solidFill>
            <a:srgbClr val="00C8FF">
              <a:alpha val="800"/>
            </a:srgbClr>
          </a:solidFill>
        </p:spPr>
      </p:sp>
      <p:sp>
        <p:nvSpPr>
          <p:cNvPr id="200" name=""/>
          <p:cNvSpPr/>
          <p:nvPr/>
        </p:nvSpPr>
        <p:spPr>
          <a:xfrm>
            <a:off x="1300000" y="1480000"/>
            <a:ext cx="600000" cy="600000"/>
          </a:xfrm>
          <a:prstGeom prst="rect">
            <a:avLst/>
          </a:prstGeom>
          <a:solidFill>
            <a:srgbClr val="FFFFFF">
              <a:alpha val="1000"/>
            </a:srgbClr>
          </a:solidFill>
        </p:spPr>
      </p:sp>
      <p:sp>
        <p:nvSpPr>
          <p:cNvPr id="210" name=""/>
          <p:cNvSpPr txBox="1"/>
          <p:nvPr/>
        </p:nvSpPr>
        <p:spPr>
          <a:xfrm>
            <a:off x="1300000" y="1520000"/>
            <a:ext cx="600000" cy="520000"/>
          </a:xfrm>
          <a:prstGeom prst="rect">
            <a:avLst/>
          </a:prstGeom>
        </p:spPr>
        <p:txBody>
          <a:bodyPr wrap="square"/>
          <a:lstStyle/>
          <a:p>
            <a:pPr algn="ctr"/>
            <a:r>
              <a:rPr lang="zh-CN" sz="2600" b="1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300" name=""/>
          <p:cNvSpPr txBox="1"/>
          <p:nvPr/>
        </p:nvSpPr>
        <p:spPr>
          <a:xfrm>
            <a:off x="390000" y="2250000"/>
            <a:ext cx="2420000" cy="500000"/>
          </a:xfrm>
          <a:prstGeom prst="rect">
            <a:avLst/>
          </a:prstGeom>
        </p:spPr>
        <p:txBody>
          <a:bodyPr wrap="square"/>
          <a:lstStyle/>
          <a:p>
            <a:pPr algn="ctr"/>
            <a:r>
              <a:rPr lang="zh-CN" sz="1800" b="1">
                <a:solidFill>
                  <a:srgbClr val="FFFFFF"/>
                </a:solidFill>
              </a:rPr>
              <a:t>成员姓名</a:t>
            </a:r>
          </a:p>
          <a:p>
            <a:pPr algn="ctr"/>
            <a:r>
              <a:rPr lang="zh-CN" sz="1200">
                <a:solidFill>
                  <a:srgbClr val="00C8FF"/>
                </a:solidFill>
              </a:rPr>
              <a:t>项目负责人</a:t>
            </a:r>
          </a:p>
        </p:txBody>
      </p:sp>
      <p:sp>
        <p:nvSpPr>
          <p:cNvPr id="400" name=""/>
          <p:cNvSpPr txBox="1"/>
          <p:nvPr/>
        </p:nvSpPr>
        <p:spPr>
          <a:xfrm>
            <a:off x="390000" y="2900000"/>
            <a:ext cx="2420000" cy="1400000"/>
          </a:xfrm>
          <a:prstGeom prst="rect">
            <a:avLst/>
          </a:prstGeom>
        </p:spPr>
        <p:txBody>
          <a:bodyPr wrap="square"/>
          <a:lstStyle/>
          <a:p>
            <a:pPr algn="ctr"/>
            <a:r>
              <a:rPr lang="zh-CN" sz="1400">
                <a:solidFill>
                  <a:srgbClr val="A0A0BB"/>
                </a:solidFill>
              </a:rPr>
              <a:t>统筹全局，把控方向</a:t>
            </a:r>
          </a:p>
        </p:txBody>
      </p:sp>
      <p:sp>
        <p:nvSpPr>
          <p:cNvPr id="110" name=""/>
          <p:cNvSpPr/>
          <p:nvPr/>
        </p:nvSpPr>
        <p:spPr>
          <a:xfrm>
            <a:off x="3050000" y="1300000"/>
            <a:ext cx="2700000" cy="3600000"/>
          </a:xfrm>
          <a:prstGeom prst="rect">
            <a:avLst/>
          </a:prstGeom>
          <a:solidFill>
            <a:srgbClr val="7B3FFF">
              <a:alpha val="800"/>
            </a:srgbClr>
          </a:solidFill>
        </p:spPr>
      </p:sp>
      <p:sp>
        <p:nvSpPr>
          <p:cNvPr id="201" name=""/>
          <p:cNvSpPr/>
          <p:nvPr/>
        </p:nvSpPr>
        <p:spPr>
          <a:xfrm>
            <a:off x="4100000" y="1480000"/>
            <a:ext cx="600000" cy="600000"/>
          </a:xfrm>
          <a:prstGeom prst="rect">
            <a:avLst/>
          </a:prstGeom>
          <a:solidFill>
            <a:srgbClr val="FFFFFF">
              <a:alpha val="1000"/>
            </a:srgbClr>
          </a:solidFill>
        </p:spPr>
      </p:sp>
      <p:sp>
        <p:nvSpPr>
          <p:cNvPr id="211" name=""/>
          <p:cNvSpPr txBox="1"/>
          <p:nvPr/>
        </p:nvSpPr>
        <p:spPr>
          <a:xfrm>
            <a:off x="4100000" y="1520000"/>
            <a:ext cx="600000" cy="520000"/>
          </a:xfrm>
          <a:prstGeom prst="rect">
            <a:avLst/>
          </a:prstGeom>
        </p:spPr>
        <p:txBody>
          <a:bodyPr wrap="square"/>
          <a:lstStyle/>
          <a:p>
            <a:pPr algn="ctr"/>
            <a:r>
              <a:rPr lang="zh-CN" sz="2600" b="1">
                <a:solidFill>
                  <a:srgbClr val="FFFFFF"/>
                </a:solidFill>
              </a:rPr>
              <a:t>B</a:t>
            </a:r>
          </a:p>
        </p:txBody>
      </p:sp>
      <p:sp>
        <p:nvSpPr>
          <p:cNvPr id="301" name=""/>
          <p:cNvSpPr txBox="1"/>
          <p:nvPr/>
        </p:nvSpPr>
        <p:spPr>
          <a:xfrm>
            <a:off x="3190000" y="2250000"/>
            <a:ext cx="2420000" cy="500000"/>
          </a:xfrm>
          <a:prstGeom prst="rect">
            <a:avLst/>
          </a:prstGeom>
        </p:spPr>
        <p:txBody>
          <a:bodyPr wrap="square"/>
          <a:lstStyle/>
          <a:p>
            <a:pPr algn="ctr"/>
            <a:r>
              <a:rPr lang="zh-CN" sz="1800" b="1">
                <a:solidFill>
                  <a:srgbClr val="FFFFFF"/>
                </a:solidFill>
              </a:rPr>
              <a:t>成员姓名</a:t>
            </a:r>
          </a:p>
          <a:p>
            <a:pPr algn="ctr"/>
            <a:r>
              <a:rPr lang="zh-CN" sz="1200">
                <a:solidFill>
                  <a:srgbClr val="00C8FF"/>
                </a:solidFill>
              </a:rPr>
              <a:t>技术负责人</a:t>
            </a:r>
          </a:p>
        </p:txBody>
      </p:sp>
      <p:sp>
        <p:nvSpPr>
          <p:cNvPr id="401" name=""/>
          <p:cNvSpPr txBox="1"/>
          <p:nvPr/>
        </p:nvSpPr>
        <p:spPr>
          <a:xfrm>
            <a:off x="3190000" y="2900000"/>
            <a:ext cx="2420000" cy="1400000"/>
          </a:xfrm>
          <a:prstGeom prst="rect">
            <a:avLst/>
          </a:prstGeom>
        </p:spPr>
        <p:txBody>
          <a:bodyPr wrap="square"/>
          <a:lstStyle/>
          <a:p>
            <a:pPr algn="ctr"/>
            <a:r>
              <a:rPr lang="zh-CN" sz="1400">
                <a:solidFill>
                  <a:srgbClr val="A0A0BB"/>
                </a:solidFill>
              </a:rPr>
              <a:t>架构设计，全栈开发</a:t>
            </a:r>
          </a:p>
        </p:txBody>
      </p:sp>
      <p:sp>
        <p:nvSpPr>
          <p:cNvPr id="120" name=""/>
          <p:cNvSpPr/>
          <p:nvPr/>
        </p:nvSpPr>
        <p:spPr>
          <a:xfrm>
            <a:off x="5850000" y="1300000"/>
            <a:ext cx="2700000" cy="3600000"/>
          </a:xfrm>
          <a:prstGeom prst="rect">
            <a:avLst/>
          </a:prstGeom>
          <a:solidFill>
            <a:srgbClr val="00C8FF">
              <a:alpha val="800"/>
            </a:srgbClr>
          </a:solidFill>
        </p:spPr>
      </p:sp>
      <p:sp>
        <p:nvSpPr>
          <p:cNvPr id="202" name=""/>
          <p:cNvSpPr/>
          <p:nvPr/>
        </p:nvSpPr>
        <p:spPr>
          <a:xfrm>
            <a:off x="6900000" y="1480000"/>
            <a:ext cx="600000" cy="600000"/>
          </a:xfrm>
          <a:prstGeom prst="rect">
            <a:avLst/>
          </a:prstGeom>
          <a:solidFill>
            <a:srgbClr val="FFFFFF">
              <a:alpha val="1000"/>
            </a:srgbClr>
          </a:solidFill>
        </p:spPr>
      </p:sp>
      <p:sp>
        <p:nvSpPr>
          <p:cNvPr id="212" name=""/>
          <p:cNvSpPr txBox="1"/>
          <p:nvPr/>
        </p:nvSpPr>
        <p:spPr>
          <a:xfrm>
            <a:off x="6900000" y="1520000"/>
            <a:ext cx="600000" cy="520000"/>
          </a:xfrm>
          <a:prstGeom prst="rect">
            <a:avLst/>
          </a:prstGeom>
        </p:spPr>
        <p:txBody>
          <a:bodyPr wrap="square"/>
          <a:lstStyle/>
          <a:p>
            <a:pPr algn="ctr"/>
            <a:r>
              <a:rPr lang="zh-CN" sz="2600" b="1">
                <a:solidFill>
                  <a:srgbClr val="FFFFFF"/>
                </a:solidFill>
              </a:rPr>
              <a:t>C</a:t>
            </a:r>
          </a:p>
        </p:txBody>
      </p:sp>
      <p:sp>
        <p:nvSpPr>
          <p:cNvPr id="302" name=""/>
          <p:cNvSpPr txBox="1"/>
          <p:nvPr/>
        </p:nvSpPr>
        <p:spPr>
          <a:xfrm>
            <a:off x="5990000" y="2250000"/>
            <a:ext cx="2420000" cy="500000"/>
          </a:xfrm>
          <a:prstGeom prst="rect">
            <a:avLst/>
          </a:prstGeom>
        </p:spPr>
        <p:txBody>
          <a:bodyPr wrap="square"/>
          <a:lstStyle/>
          <a:p>
            <a:pPr algn="ctr"/>
            <a:r>
              <a:rPr lang="zh-CN" sz="1800" b="1">
                <a:solidFill>
                  <a:srgbClr val="FFFFFF"/>
                </a:solidFill>
              </a:rPr>
              <a:t>成员姓名</a:t>
            </a:r>
          </a:p>
          <a:p>
            <a:pPr algn="ctr"/>
            <a:r>
              <a:rPr lang="zh-CN" sz="1200">
                <a:solidFill>
                  <a:srgbClr val="00C8FF"/>
                </a:solidFill>
              </a:rPr>
              <a:t>设计负责人</a:t>
            </a:r>
          </a:p>
        </p:txBody>
      </p:sp>
      <p:sp>
        <p:nvSpPr>
          <p:cNvPr id="402" name=""/>
          <p:cNvSpPr txBox="1"/>
          <p:nvPr/>
        </p:nvSpPr>
        <p:spPr>
          <a:xfrm>
            <a:off x="5990000" y="2900000"/>
            <a:ext cx="2420000" cy="1400000"/>
          </a:xfrm>
          <a:prstGeom prst="rect">
            <a:avLst/>
          </a:prstGeom>
        </p:spPr>
        <p:txBody>
          <a:bodyPr wrap="square"/>
          <a:lstStyle/>
          <a:p>
            <a:pPr algn="ctr"/>
            <a:r>
              <a:rPr lang="zh-CN" sz="1400">
                <a:solidFill>
                  <a:srgbClr val="A0A0BB"/>
                </a:solidFill>
              </a:rPr>
              <a:t>视觉设计，品牌塑造</a:t>
            </a:r>
          </a:p>
        </p:txBody>
      </p:sp>
      <p:sp>
        <p:nvSpPr>
          <p:cNvPr id="130" name=""/>
          <p:cNvSpPr/>
          <p:nvPr/>
        </p:nvSpPr>
        <p:spPr>
          <a:xfrm>
            <a:off x="8650000" y="1300000"/>
            <a:ext cx="2700000" cy="3600000"/>
          </a:xfrm>
          <a:prstGeom prst="rect">
            <a:avLst/>
          </a:prstGeom>
          <a:solidFill>
            <a:srgbClr val="7B3FFF">
              <a:alpha val="800"/>
            </a:srgbClr>
          </a:solidFill>
        </p:spPr>
      </p:sp>
      <p:sp>
        <p:nvSpPr>
          <p:cNvPr id="203" name=""/>
          <p:cNvSpPr/>
          <p:nvPr/>
        </p:nvSpPr>
        <p:spPr>
          <a:xfrm>
            <a:off x="9700000" y="1480000"/>
            <a:ext cx="600000" cy="600000"/>
          </a:xfrm>
          <a:prstGeom prst="rect">
            <a:avLst/>
          </a:prstGeom>
          <a:solidFill>
            <a:srgbClr val="FFFFFF">
              <a:alpha val="1000"/>
            </a:srgbClr>
          </a:solidFill>
        </p:spPr>
      </p:sp>
      <p:sp>
        <p:nvSpPr>
          <p:cNvPr id="213" name=""/>
          <p:cNvSpPr txBox="1"/>
          <p:nvPr/>
        </p:nvSpPr>
        <p:spPr>
          <a:xfrm>
            <a:off x="9700000" y="1520000"/>
            <a:ext cx="600000" cy="520000"/>
          </a:xfrm>
          <a:prstGeom prst="rect">
            <a:avLst/>
          </a:prstGeom>
        </p:spPr>
        <p:txBody>
          <a:bodyPr wrap="square"/>
          <a:lstStyle/>
          <a:p>
            <a:pPr algn="ctr"/>
            <a:r>
              <a:rPr lang="zh-CN" sz="2600" b="1">
                <a:solidFill>
                  <a:srgbClr val="FFFFFF"/>
                </a:solidFill>
              </a:rPr>
              <a:t>D</a:t>
            </a:r>
          </a:p>
        </p:txBody>
      </p:sp>
      <p:sp>
        <p:nvSpPr>
          <p:cNvPr id="303" name=""/>
          <p:cNvSpPr txBox="1"/>
          <p:nvPr/>
        </p:nvSpPr>
        <p:spPr>
          <a:xfrm>
            <a:off x="8790000" y="2250000"/>
            <a:ext cx="2420000" cy="500000"/>
          </a:xfrm>
          <a:prstGeom prst="rect">
            <a:avLst/>
          </a:prstGeom>
        </p:spPr>
        <p:txBody>
          <a:bodyPr wrap="square"/>
          <a:lstStyle/>
          <a:p>
            <a:pPr algn="ctr"/>
            <a:r>
              <a:rPr lang="zh-CN" sz="1800" b="1">
                <a:solidFill>
                  <a:srgbClr val="FFFFFF"/>
                </a:solidFill>
              </a:rPr>
              <a:t>成员姓名</a:t>
            </a:r>
          </a:p>
          <a:p>
            <a:pPr algn="ctr"/>
            <a:r>
              <a:rPr lang="zh-CN" sz="1200">
                <a:solidFill>
                  <a:srgbClr val="00C8FF"/>
                </a:solidFill>
              </a:rPr>
              <a:t>运营负责人</a:t>
            </a:r>
          </a:p>
        </p:txBody>
      </p:sp>
      <p:sp>
        <p:nvSpPr>
          <p:cNvPr id="403" name=""/>
          <p:cNvSpPr txBox="1"/>
          <p:nvPr/>
        </p:nvSpPr>
        <p:spPr>
          <a:xfrm>
            <a:off x="8790000" y="2900000"/>
            <a:ext cx="2420000" cy="1400000"/>
          </a:xfrm>
          <a:prstGeom prst="rect">
            <a:avLst/>
          </a:prstGeom>
        </p:spPr>
        <p:txBody>
          <a:bodyPr wrap="square"/>
          <a:lstStyle/>
          <a:p>
            <a:pPr algn="ctr"/>
            <a:r>
              <a:rPr lang="zh-CN" sz="1400">
                <a:solidFill>
                  <a:srgbClr val="A0A0BB"/>
                </a:solidFill>
              </a:rPr>
              <a:t>内容策划，对外联络</a:t>
            </a:r>
          </a:p>
        </p:txBody>
      </p:sp>
    </p:spTree>
  </p:cSld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solidFill>
          <a:srgbClr val="080816"/>
        </a:solidFill>
      </p:bgPr>
    </p:bg>
    <p:spTree>
      <p:sp>
        <p:nvSpPr>
          <p:cNvPr id="1" name=""/>
          <p:cNvSpPr/>
          <p:nvPr/>
        </p:nvSpPr>
        <p:spPr>
          <a:xfrm>
            <a:off x="0" y="0"/>
            <a:ext cx="12192000" cy="48000"/>
          </a:xfrm>
          <a:prstGeom prst="rect">
            <a:avLst/>
          </a:prstGeom>
          <a:solidFill>
            <a:srgbClr val="00C8FF">
              <a:alpha val="10000"/>
            </a:srgbClr>
          </a:solidFill>
        </p:spPr>
      </p:sp>
      <p:sp>
        <p:nvSpPr>
          <p:cNvPr id="2" name=""/>
          <p:cNvSpPr txBox="1"/>
          <p:nvPr/>
        </p:nvSpPr>
        <p:spPr>
          <a:xfrm>
            <a:off x="400000" y="300000"/>
            <a:ext cx="4000000" cy="600000"/>
          </a:xfrm>
          <a:prstGeom prst="rect">
            <a:avLst/>
          </a:prstGeom>
        </p:spPr>
        <p:txBody>
          <a:bodyPr wrap="square"/>
          <a:lstStyle/>
          <a:p>
            <a:pPr algn="l"/>
            <a:r>
              <a:rPr lang="zh-CN" sz="3200" b="1">
                <a:solidFill>
                  <a:srgbClr val="FFFFFF"/>
                </a:solidFill>
              </a:rPr>
              <a:t>为什么选择我们</a:t>
            </a:r>
          </a:p>
        </p:txBody>
      </p:sp>
      <p:sp>
        <p:nvSpPr>
          <p:cNvPr id="3" name=""/>
          <p:cNvSpPr/>
          <p:nvPr/>
        </p:nvSpPr>
        <p:spPr>
          <a:xfrm>
            <a:off x="400000" y="850000"/>
            <a:ext cx="800000" cy="36000"/>
          </a:xfrm>
          <a:prstGeom prst="rect">
            <a:avLst/>
          </a:prstGeom>
          <a:solidFill>
            <a:srgbClr val="00C8FF">
              <a:alpha val="10000"/>
            </a:srgbClr>
          </a:solidFill>
        </p:spPr>
      </p:sp>
      <p:sp>
        <p:nvSpPr>
          <p:cNvPr id="100" name=""/>
          <p:cNvSpPr/>
          <p:nvPr/>
        </p:nvSpPr>
        <p:spPr>
          <a:xfrm>
            <a:off x="400000" y="1200000"/>
            <a:ext cx="11200000" cy="1050000"/>
          </a:xfrm>
          <a:prstGeom prst="rect">
            <a:avLst/>
          </a:prstGeom>
          <a:solidFill>
            <a:srgbClr val="00C8FF">
              <a:alpha val="500"/>
            </a:srgbClr>
          </a:solidFill>
        </p:spPr>
      </p:sp>
      <p:sp>
        <p:nvSpPr>
          <p:cNvPr id="200" name=""/>
          <p:cNvSpPr/>
          <p:nvPr/>
        </p:nvSpPr>
        <p:spPr>
          <a:xfrm>
            <a:off x="440000" y="1360000"/>
            <a:ext cx="40000" cy="730000"/>
          </a:xfrm>
          <a:prstGeom prst="rect">
            <a:avLst/>
          </a:prstGeom>
          <a:solidFill>
            <a:srgbClr val="00C8FF">
              <a:alpha val="10000"/>
            </a:srgbClr>
          </a:solidFill>
        </p:spPr>
      </p:sp>
      <p:sp>
        <p:nvSpPr>
          <p:cNvPr id="300" name=""/>
          <p:cNvSpPr txBox="1"/>
          <p:nvPr/>
        </p:nvSpPr>
        <p:spPr>
          <a:xfrm>
            <a:off x="700000" y="1320000"/>
            <a:ext cx="700000" cy="600000"/>
          </a:xfrm>
          <a:prstGeom prst="rect">
            <a:avLst/>
          </a:prstGeom>
        </p:spPr>
        <p:txBody>
          <a:bodyPr wrap="square"/>
          <a:lstStyle/>
          <a:p>
            <a:pPr algn="l"/>
            <a:r>
              <a:rPr lang="zh-CN" sz="3200" b="1">
                <a:solidFill>
                  <a:srgbClr val="00C8FF"/>
                </a:solidFill>
              </a:rPr>
              <a:t>01</a:t>
            </a:r>
          </a:p>
        </p:txBody>
      </p:sp>
      <p:sp>
        <p:nvSpPr>
          <p:cNvPr id="400" name=""/>
          <p:cNvSpPr txBox="1"/>
          <p:nvPr/>
        </p:nvSpPr>
        <p:spPr>
          <a:xfrm>
            <a:off x="1500000" y="1360000"/>
            <a:ext cx="4000000" cy="400000"/>
          </a:xfrm>
          <a:prstGeom prst="rect">
            <a:avLst/>
          </a:prstGeom>
        </p:spPr>
        <p:txBody>
          <a:bodyPr wrap="square"/>
          <a:lstStyle/>
          <a:p>
            <a:pPr algn="l"/>
            <a:r>
              <a:rPr lang="zh-CN" sz="2200" b="1">
                <a:solidFill>
                  <a:srgbClr val="FFFFFF"/>
                </a:solidFill>
              </a:rPr>
              <a:t>多学科交叉背景</a:t>
            </a:r>
          </a:p>
        </p:txBody>
      </p:sp>
      <p:sp>
        <p:nvSpPr>
          <p:cNvPr id="500" name=""/>
          <p:cNvSpPr txBox="1"/>
          <p:nvPr/>
        </p:nvSpPr>
        <p:spPr>
          <a:xfrm>
            <a:off x="1500000" y="1750000"/>
            <a:ext cx="7500000" cy="350000"/>
          </a:xfrm>
          <a:prstGeom prst="rect">
            <a:avLst/>
          </a:prstGeom>
        </p:spPr>
        <p:txBody>
          <a:bodyPr wrap="square"/>
          <a:lstStyle/>
          <a:p>
            <a:pPr algn="l"/>
            <a:r>
              <a:rPr lang="zh-CN" sz="1400">
                <a:solidFill>
                  <a:srgbClr val="A0A0BB"/>
                </a:solidFill>
              </a:rPr>
              <a:t>成员来自不同专业，视角多元，方案不单一，能应对复杂问题</a:t>
            </a:r>
          </a:p>
        </p:txBody>
      </p:sp>
      <p:sp>
        <p:nvSpPr>
          <p:cNvPr id="101" name=""/>
          <p:cNvSpPr/>
          <p:nvPr/>
        </p:nvSpPr>
        <p:spPr>
          <a:xfrm>
            <a:off x="400000" y="2390000"/>
            <a:ext cx="11200000" cy="1050000"/>
          </a:xfrm>
          <a:prstGeom prst="rect">
            <a:avLst/>
          </a:prstGeom>
          <a:solidFill>
            <a:srgbClr val="00C8FF">
              <a:alpha val="500"/>
            </a:srgbClr>
          </a:solidFill>
        </p:spPr>
      </p:sp>
      <p:sp>
        <p:nvSpPr>
          <p:cNvPr id="201" name=""/>
          <p:cNvSpPr/>
          <p:nvPr/>
        </p:nvSpPr>
        <p:spPr>
          <a:xfrm>
            <a:off x="440000" y="2550000"/>
            <a:ext cx="40000" cy="730000"/>
          </a:xfrm>
          <a:prstGeom prst="rect">
            <a:avLst/>
          </a:prstGeom>
          <a:solidFill>
            <a:srgbClr val="00C8FF">
              <a:alpha val="10000"/>
            </a:srgbClr>
          </a:solidFill>
        </p:spPr>
      </p:sp>
      <p:sp>
        <p:nvSpPr>
          <p:cNvPr id="301" name=""/>
          <p:cNvSpPr txBox="1"/>
          <p:nvPr/>
        </p:nvSpPr>
        <p:spPr>
          <a:xfrm>
            <a:off x="700000" y="2510000"/>
            <a:ext cx="700000" cy="600000"/>
          </a:xfrm>
          <a:prstGeom prst="rect">
            <a:avLst/>
          </a:prstGeom>
        </p:spPr>
        <p:txBody>
          <a:bodyPr wrap="square"/>
          <a:lstStyle/>
          <a:p>
            <a:pPr algn="l"/>
            <a:r>
              <a:rPr lang="zh-CN" sz="3200" b="1">
                <a:solidFill>
                  <a:srgbClr val="00C8FF"/>
                </a:solidFill>
              </a:rPr>
              <a:t>02</a:t>
            </a:r>
          </a:p>
        </p:txBody>
      </p:sp>
      <p:sp>
        <p:nvSpPr>
          <p:cNvPr id="401" name=""/>
          <p:cNvSpPr txBox="1"/>
          <p:nvPr/>
        </p:nvSpPr>
        <p:spPr>
          <a:xfrm>
            <a:off x="1500000" y="2550000"/>
            <a:ext cx="4000000" cy="400000"/>
          </a:xfrm>
          <a:prstGeom prst="rect">
            <a:avLst/>
          </a:prstGeom>
        </p:spPr>
        <p:txBody>
          <a:bodyPr wrap="square"/>
          <a:lstStyle/>
          <a:p>
            <a:pPr algn="l"/>
            <a:r>
              <a:rPr lang="zh-CN" sz="2200" b="1">
                <a:solidFill>
                  <a:srgbClr val="FFFFFF"/>
                </a:solidFill>
              </a:rPr>
              <a:t>项目驱动学习模式</a:t>
            </a:r>
          </a:p>
        </p:txBody>
      </p:sp>
      <p:sp>
        <p:nvSpPr>
          <p:cNvPr id="501" name=""/>
          <p:cNvSpPr txBox="1"/>
          <p:nvPr/>
        </p:nvSpPr>
        <p:spPr>
          <a:xfrm>
            <a:off x="1500000" y="2940000"/>
            <a:ext cx="7500000" cy="350000"/>
          </a:xfrm>
          <a:prstGeom prst="rect">
            <a:avLst/>
          </a:prstGeom>
        </p:spPr>
        <p:txBody>
          <a:bodyPr wrap="square"/>
          <a:lstStyle/>
          <a:p>
            <a:pPr algn="l"/>
            <a:r>
              <a:rPr lang="zh-CN" sz="1400">
                <a:solidFill>
                  <a:srgbClr val="A0A0BB"/>
                </a:solidFill>
              </a:rPr>
              <a:t>以实战倒逼成长，每次项目都有可量化的能力提升</a:t>
            </a:r>
          </a:p>
        </p:txBody>
      </p:sp>
      <p:sp>
        <p:nvSpPr>
          <p:cNvPr id="102" name=""/>
          <p:cNvSpPr/>
          <p:nvPr/>
        </p:nvSpPr>
        <p:spPr>
          <a:xfrm>
            <a:off x="400000" y="3580000"/>
            <a:ext cx="11200000" cy="1050000"/>
          </a:xfrm>
          <a:prstGeom prst="rect">
            <a:avLst/>
          </a:prstGeom>
          <a:solidFill>
            <a:srgbClr val="00C8FF">
              <a:alpha val="500"/>
            </a:srgbClr>
          </a:solidFill>
        </p:spPr>
      </p:sp>
      <p:sp>
        <p:nvSpPr>
          <p:cNvPr id="202" name=""/>
          <p:cNvSpPr/>
          <p:nvPr/>
        </p:nvSpPr>
        <p:spPr>
          <a:xfrm>
            <a:off x="440000" y="3740000"/>
            <a:ext cx="40000" cy="730000"/>
          </a:xfrm>
          <a:prstGeom prst="rect">
            <a:avLst/>
          </a:prstGeom>
          <a:solidFill>
            <a:srgbClr val="00C8FF">
              <a:alpha val="10000"/>
            </a:srgbClr>
          </a:solidFill>
        </p:spPr>
      </p:sp>
      <p:sp>
        <p:nvSpPr>
          <p:cNvPr id="302" name=""/>
          <p:cNvSpPr txBox="1"/>
          <p:nvPr/>
        </p:nvSpPr>
        <p:spPr>
          <a:xfrm>
            <a:off x="700000" y="3700000"/>
            <a:ext cx="700000" cy="600000"/>
          </a:xfrm>
          <a:prstGeom prst="rect">
            <a:avLst/>
          </a:prstGeom>
        </p:spPr>
        <p:txBody>
          <a:bodyPr wrap="square"/>
          <a:lstStyle/>
          <a:p>
            <a:pPr algn="l"/>
            <a:r>
              <a:rPr lang="zh-CN" sz="3200" b="1">
                <a:solidFill>
                  <a:srgbClr val="00C8FF"/>
                </a:solidFill>
              </a:rPr>
              <a:t>03</a:t>
            </a:r>
          </a:p>
        </p:txBody>
      </p:sp>
      <p:sp>
        <p:nvSpPr>
          <p:cNvPr id="402" name=""/>
          <p:cNvSpPr txBox="1"/>
          <p:nvPr/>
        </p:nvSpPr>
        <p:spPr>
          <a:xfrm>
            <a:off x="1500000" y="3740000"/>
            <a:ext cx="4000000" cy="400000"/>
          </a:xfrm>
          <a:prstGeom prst="rect">
            <a:avLst/>
          </a:prstGeom>
        </p:spPr>
        <p:txBody>
          <a:bodyPr wrap="square"/>
          <a:lstStyle/>
          <a:p>
            <a:pPr algn="l"/>
            <a:r>
              <a:rPr lang="zh-CN" sz="2200" b="1">
                <a:solidFill>
                  <a:srgbClr val="FFFFFF"/>
                </a:solidFill>
              </a:rPr>
              <a:t>企业级交付标准</a:t>
            </a:r>
          </a:p>
        </p:txBody>
      </p:sp>
      <p:sp>
        <p:nvSpPr>
          <p:cNvPr id="502" name=""/>
          <p:cNvSpPr txBox="1"/>
          <p:nvPr/>
        </p:nvSpPr>
        <p:spPr>
          <a:xfrm>
            <a:off x="1500000" y="4130000"/>
            <a:ext cx="7500000" cy="350000"/>
          </a:xfrm>
          <a:prstGeom prst="rect">
            <a:avLst/>
          </a:prstGeom>
        </p:spPr>
        <p:txBody>
          <a:bodyPr wrap="square"/>
          <a:lstStyle/>
          <a:p>
            <a:pPr algn="l"/>
            <a:r>
              <a:rPr lang="zh-CN" sz="1400">
                <a:solidFill>
                  <a:srgbClr val="A0A0BB"/>
                </a:solidFill>
              </a:rPr>
              <a:t>对标企业要求，从文档到代码都有规范流程，质量可追溯</a:t>
            </a:r>
          </a:p>
        </p:txBody>
      </p:sp>
      <p:sp>
        <p:nvSpPr>
          <p:cNvPr id="103" name=""/>
          <p:cNvSpPr/>
          <p:nvPr/>
        </p:nvSpPr>
        <p:spPr>
          <a:xfrm>
            <a:off x="400000" y="4770000"/>
            <a:ext cx="11200000" cy="1050000"/>
          </a:xfrm>
          <a:prstGeom prst="rect">
            <a:avLst/>
          </a:prstGeom>
          <a:solidFill>
            <a:srgbClr val="00C8FF">
              <a:alpha val="500"/>
            </a:srgbClr>
          </a:solidFill>
        </p:spPr>
      </p:sp>
      <p:sp>
        <p:nvSpPr>
          <p:cNvPr id="203" name=""/>
          <p:cNvSpPr/>
          <p:nvPr/>
        </p:nvSpPr>
        <p:spPr>
          <a:xfrm>
            <a:off x="440000" y="4930000"/>
            <a:ext cx="40000" cy="730000"/>
          </a:xfrm>
          <a:prstGeom prst="rect">
            <a:avLst/>
          </a:prstGeom>
          <a:solidFill>
            <a:srgbClr val="00C8FF">
              <a:alpha val="10000"/>
            </a:srgbClr>
          </a:solidFill>
        </p:spPr>
      </p:sp>
      <p:sp>
        <p:nvSpPr>
          <p:cNvPr id="303" name=""/>
          <p:cNvSpPr txBox="1"/>
          <p:nvPr/>
        </p:nvSpPr>
        <p:spPr>
          <a:xfrm>
            <a:off x="700000" y="4890000"/>
            <a:ext cx="700000" cy="600000"/>
          </a:xfrm>
          <a:prstGeom prst="rect">
            <a:avLst/>
          </a:prstGeom>
        </p:spPr>
        <p:txBody>
          <a:bodyPr wrap="square"/>
          <a:lstStyle/>
          <a:p>
            <a:pPr algn="l"/>
            <a:r>
              <a:rPr lang="zh-CN" sz="3200" b="1">
                <a:solidFill>
                  <a:srgbClr val="00C8FF"/>
                </a:solidFill>
              </a:rPr>
              <a:t>04</a:t>
            </a:r>
          </a:p>
        </p:txBody>
      </p:sp>
      <p:sp>
        <p:nvSpPr>
          <p:cNvPr id="403" name=""/>
          <p:cNvSpPr txBox="1"/>
          <p:nvPr/>
        </p:nvSpPr>
        <p:spPr>
          <a:xfrm>
            <a:off x="1500000" y="4930000"/>
            <a:ext cx="4000000" cy="400000"/>
          </a:xfrm>
          <a:prstGeom prst="rect">
            <a:avLst/>
          </a:prstGeom>
        </p:spPr>
        <p:txBody>
          <a:bodyPr wrap="square"/>
          <a:lstStyle/>
          <a:p>
            <a:pPr algn="l"/>
            <a:r>
              <a:rPr lang="zh-CN" sz="2200" b="1">
                <a:solidFill>
                  <a:srgbClr val="FFFFFF"/>
                </a:solidFill>
              </a:rPr>
              <a:t>高效协作体系</a:t>
            </a:r>
          </a:p>
        </p:txBody>
      </p:sp>
      <p:sp>
        <p:nvSpPr>
          <p:cNvPr id="503" name=""/>
          <p:cNvSpPr txBox="1"/>
          <p:nvPr/>
        </p:nvSpPr>
        <p:spPr>
          <a:xfrm>
            <a:off x="1500000" y="5320000"/>
            <a:ext cx="7500000" cy="350000"/>
          </a:xfrm>
          <a:prstGeom prst="rect">
            <a:avLst/>
          </a:prstGeom>
        </p:spPr>
        <p:txBody>
          <a:bodyPr wrap="square"/>
          <a:lstStyle/>
          <a:p>
            <a:pPr algn="l"/>
            <a:r>
              <a:rPr lang="zh-CN" sz="1400">
                <a:solidFill>
                  <a:srgbClr val="A0A0BB"/>
                </a:solidFill>
              </a:rPr>
              <a:t>透明沟通+敏捷流程+工具链支撑=快速响应与高质量产出</a:t>
            </a:r>
          </a:p>
        </p:txBody>
      </p:sp>
    </p:spTree>
  </p:cSld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solidFill>
          <a:srgbClr val="080816"/>
        </a:solidFill>
      </p:bgPr>
    </p:bg>
    <p:spTree>
      <p:sp>
        <p:nvSpPr>
          <p:cNvPr id="1" name=""/>
          <p:cNvSpPr/>
          <p:nvPr/>
        </p:nvSpPr>
        <p:spPr>
          <a:xfrm>
            <a:off x="0" y="0"/>
            <a:ext cx="12192000" cy="48000"/>
          </a:xfrm>
          <a:prstGeom prst="rect">
            <a:avLst/>
          </a:prstGeom>
          <a:solidFill>
            <a:srgbClr val="00C8FF">
              <a:alpha val="10000"/>
            </a:srgbClr>
          </a:solidFill>
        </p:spPr>
      </p:sp>
      <p:sp>
        <p:nvSpPr>
          <p:cNvPr id="2" name=""/>
          <p:cNvSpPr txBox="1"/>
          <p:nvPr/>
        </p:nvSpPr>
        <p:spPr>
          <a:xfrm>
            <a:off x="400000" y="300000"/>
            <a:ext cx="3000000" cy="600000"/>
          </a:xfrm>
          <a:prstGeom prst="rect">
            <a:avLst/>
          </a:prstGeom>
        </p:spPr>
        <p:txBody>
          <a:bodyPr wrap="square"/>
          <a:lstStyle/>
          <a:p>
            <a:pPr algn="l"/>
            <a:r>
              <a:rPr lang="zh-CN" sz="3200" b="1">
                <a:solidFill>
                  <a:srgbClr val="FFFFFF"/>
                </a:solidFill>
              </a:rPr>
              <a:t>项目成果</a:t>
            </a:r>
          </a:p>
        </p:txBody>
      </p:sp>
      <p:sp>
        <p:nvSpPr>
          <p:cNvPr id="3" name=""/>
          <p:cNvSpPr/>
          <p:nvPr/>
        </p:nvSpPr>
        <p:spPr>
          <a:xfrm>
            <a:off x="400000" y="850000"/>
            <a:ext cx="800000" cy="36000"/>
          </a:xfrm>
          <a:prstGeom prst="rect">
            <a:avLst/>
          </a:prstGeom>
          <a:solidFill>
            <a:srgbClr val="00C8FF">
              <a:alpha val="10000"/>
            </a:srgbClr>
          </a:solidFill>
        </p:spPr>
      </p:sp>
      <p:sp>
        <p:nvSpPr>
          <p:cNvPr id="100" name=""/>
          <p:cNvSpPr/>
          <p:nvPr/>
        </p:nvSpPr>
        <p:spPr>
          <a:xfrm>
            <a:off x="300000" y="1300000"/>
            <a:ext cx="3600000" cy="3300000"/>
          </a:xfrm>
          <a:prstGeom prst="rect">
            <a:avLst/>
          </a:prstGeom>
          <a:solidFill>
            <a:srgbClr val="00C8FF">
              <a:alpha val="800"/>
            </a:srgbClr>
          </a:solidFill>
        </p:spPr>
      </p:sp>
      <p:sp>
        <p:nvSpPr>
          <p:cNvPr id="200" name=""/>
          <p:cNvSpPr/>
          <p:nvPr/>
        </p:nvSpPr>
        <p:spPr>
          <a:xfrm>
            <a:off x="420000" y="1750000"/>
            <a:ext cx="3360000" cy="36000"/>
          </a:xfrm>
          <a:prstGeom prst="rect">
            <a:avLst/>
          </a:prstGeom>
          <a:solidFill>
            <a:srgbClr val="00C8FF">
              <a:alpha val="10000"/>
            </a:srgbClr>
          </a:solidFill>
        </p:spPr>
      </p:sp>
      <p:sp>
        <p:nvSpPr>
          <p:cNvPr id="300" name=""/>
          <p:cNvSpPr txBox="1"/>
          <p:nvPr/>
        </p:nvSpPr>
        <p:spPr>
          <a:xfrm>
            <a:off x="500000" y="1860000"/>
            <a:ext cx="3200000" cy="360000"/>
          </a:xfrm>
          <a:prstGeom prst="rect">
            <a:avLst/>
          </a:prstGeom>
        </p:spPr>
        <p:txBody>
          <a:bodyPr wrap="square"/>
          <a:lstStyle/>
          <a:p>
            <a:pPr algn="l"/>
            <a:r>
              <a:rPr lang="zh-CN" sz="2000" b="1">
                <a:solidFill>
                  <a:srgbClr val="FFFFFF"/>
                </a:solidFill>
              </a:rPr>
              <a:t>项目 01</a:t>
            </a:r>
          </a:p>
        </p:txBody>
      </p:sp>
      <p:sp>
        <p:nvSpPr>
          <p:cNvPr id="400" name=""/>
          <p:cNvSpPr txBox="1"/>
          <p:nvPr/>
        </p:nvSpPr>
        <p:spPr>
          <a:xfrm>
            <a:off x="500000" y="2300000"/>
            <a:ext cx="3200000" cy="1200000"/>
          </a:xfrm>
          <a:prstGeom prst="rect">
            <a:avLst/>
          </a:prstGeom>
        </p:spPr>
        <p:txBody>
          <a:bodyPr wrap="square"/>
          <a:lstStyle/>
          <a:p>
            <a:pPr algn="l"/>
            <a:r>
              <a:rPr lang="zh-CN" sz="1400">
                <a:solidFill>
                  <a:srgbClr val="A0A0BB"/>
                </a:solidFill>
              </a:rPr>
              <a:t>项目简介待填写</a:t>
            </a:r>
          </a:p>
          <a:p>
            <a:pPr algn="l"/>
            <a:r>
              <a:rPr lang="zh-CN" sz="800">
                <a:solidFill>
                  <a:srgbClr val="A0A0BB"/>
                </a:solidFill>
              </a:rPr>
              <a:t/>
            </a:r>
          </a:p>
          <a:p>
            <a:pPr algn="l"/>
            <a:r>
              <a:rPr lang="zh-CN" sz="1300">
                <a:solidFill>
                  <a:srgbClr val="00C8FF"/>
                </a:solidFill>
              </a:rPr>
              <a:t>核心成果：</a:t>
            </a:r>
          </a:p>
          <a:p>
            <a:pPr algn="l"/>
            <a:r>
              <a:rPr lang="zh-CN" sz="1300">
                <a:solidFill>
                  <a:srgbClr val="A0A0BB"/>
                </a:solidFill>
              </a:rPr>
              <a:t>数据指标待补充</a:t>
            </a:r>
          </a:p>
        </p:txBody>
      </p:sp>
      <p:sp>
        <p:nvSpPr>
          <p:cNvPr id="500" name=""/>
          <p:cNvSpPr txBox="1"/>
          <p:nvPr/>
        </p:nvSpPr>
        <p:spPr>
          <a:xfrm>
            <a:off x="500000" y="3600000"/>
            <a:ext cx="3200000" cy="500000"/>
          </a:xfrm>
          <a:prstGeom prst="rect">
            <a:avLst/>
          </a:prstGeom>
        </p:spPr>
        <p:txBody>
          <a:bodyPr wrap="square"/>
          <a:lstStyle/>
          <a:p>
            <a:pPr algn="l"/>
            <a:r>
              <a:rPr lang="zh-CN" sz="1200">
                <a:solidFill>
                  <a:srgbClr val="707090"/>
                </a:solidFill>
              </a:rPr>
              <a:t>我的角色：待填写</a:t>
            </a:r>
          </a:p>
        </p:txBody>
      </p:sp>
      <p:sp>
        <p:nvSpPr>
          <p:cNvPr id="110" name=""/>
          <p:cNvSpPr/>
          <p:nvPr/>
        </p:nvSpPr>
        <p:spPr>
          <a:xfrm>
            <a:off x="4050000" y="1300000"/>
            <a:ext cx="3600000" cy="3300000"/>
          </a:xfrm>
          <a:prstGeom prst="rect">
            <a:avLst/>
          </a:prstGeom>
          <a:solidFill>
            <a:srgbClr val="7B3FFF">
              <a:alpha val="800"/>
            </a:srgbClr>
          </a:solidFill>
        </p:spPr>
      </p:sp>
      <p:sp>
        <p:nvSpPr>
          <p:cNvPr id="201" name=""/>
          <p:cNvSpPr/>
          <p:nvPr/>
        </p:nvSpPr>
        <p:spPr>
          <a:xfrm>
            <a:off x="4170000" y="1750000"/>
            <a:ext cx="3360000" cy="36000"/>
          </a:xfrm>
          <a:prstGeom prst="rect">
            <a:avLst/>
          </a:prstGeom>
          <a:solidFill>
            <a:srgbClr val="00C8FF">
              <a:alpha val="10000"/>
            </a:srgbClr>
          </a:solidFill>
        </p:spPr>
      </p:sp>
      <p:sp>
        <p:nvSpPr>
          <p:cNvPr id="301" name=""/>
          <p:cNvSpPr txBox="1"/>
          <p:nvPr/>
        </p:nvSpPr>
        <p:spPr>
          <a:xfrm>
            <a:off x="4250000" y="1860000"/>
            <a:ext cx="3200000" cy="360000"/>
          </a:xfrm>
          <a:prstGeom prst="rect">
            <a:avLst/>
          </a:prstGeom>
        </p:spPr>
        <p:txBody>
          <a:bodyPr wrap="square"/>
          <a:lstStyle/>
          <a:p>
            <a:pPr algn="l"/>
            <a:r>
              <a:rPr lang="zh-CN" sz="2000" b="1">
                <a:solidFill>
                  <a:srgbClr val="FFFFFF"/>
                </a:solidFill>
              </a:rPr>
              <a:t>项目 02</a:t>
            </a:r>
          </a:p>
        </p:txBody>
      </p:sp>
      <p:sp>
        <p:nvSpPr>
          <p:cNvPr id="401" name=""/>
          <p:cNvSpPr txBox="1"/>
          <p:nvPr/>
        </p:nvSpPr>
        <p:spPr>
          <a:xfrm>
            <a:off x="4250000" y="2300000"/>
            <a:ext cx="3200000" cy="1200000"/>
          </a:xfrm>
          <a:prstGeom prst="rect">
            <a:avLst/>
          </a:prstGeom>
        </p:spPr>
        <p:txBody>
          <a:bodyPr wrap="square"/>
          <a:lstStyle/>
          <a:p>
            <a:pPr algn="l"/>
            <a:r>
              <a:rPr lang="zh-CN" sz="1400">
                <a:solidFill>
                  <a:srgbClr val="A0A0BB"/>
                </a:solidFill>
              </a:rPr>
              <a:t>项目简介待填写</a:t>
            </a:r>
          </a:p>
          <a:p>
            <a:pPr algn="l"/>
            <a:r>
              <a:rPr lang="zh-CN" sz="800">
                <a:solidFill>
                  <a:srgbClr val="A0A0BB"/>
                </a:solidFill>
              </a:rPr>
              <a:t/>
            </a:r>
          </a:p>
          <a:p>
            <a:pPr algn="l"/>
            <a:r>
              <a:rPr lang="zh-CN" sz="1300">
                <a:solidFill>
                  <a:srgbClr val="00C8FF"/>
                </a:solidFill>
              </a:rPr>
              <a:t>核心成果：</a:t>
            </a:r>
          </a:p>
          <a:p>
            <a:pPr algn="l"/>
            <a:r>
              <a:rPr lang="zh-CN" sz="1300">
                <a:solidFill>
                  <a:srgbClr val="A0A0BB"/>
                </a:solidFill>
              </a:rPr>
              <a:t>数据指标待补充</a:t>
            </a:r>
          </a:p>
        </p:txBody>
      </p:sp>
      <p:sp>
        <p:nvSpPr>
          <p:cNvPr id="501" name=""/>
          <p:cNvSpPr txBox="1"/>
          <p:nvPr/>
        </p:nvSpPr>
        <p:spPr>
          <a:xfrm>
            <a:off x="4250000" y="3600000"/>
            <a:ext cx="3200000" cy="500000"/>
          </a:xfrm>
          <a:prstGeom prst="rect">
            <a:avLst/>
          </a:prstGeom>
        </p:spPr>
        <p:txBody>
          <a:bodyPr wrap="square"/>
          <a:lstStyle/>
          <a:p>
            <a:pPr algn="l"/>
            <a:r>
              <a:rPr lang="zh-CN" sz="1200">
                <a:solidFill>
                  <a:srgbClr val="707090"/>
                </a:solidFill>
              </a:rPr>
              <a:t>我的角色：待填写</a:t>
            </a:r>
          </a:p>
        </p:txBody>
      </p:sp>
      <p:sp>
        <p:nvSpPr>
          <p:cNvPr id="120" name=""/>
          <p:cNvSpPr/>
          <p:nvPr/>
        </p:nvSpPr>
        <p:spPr>
          <a:xfrm>
            <a:off x="7800000" y="1300000"/>
            <a:ext cx="3600000" cy="3300000"/>
          </a:xfrm>
          <a:prstGeom prst="rect">
            <a:avLst/>
          </a:prstGeom>
          <a:solidFill>
            <a:srgbClr val="00C8FF">
              <a:alpha val="800"/>
            </a:srgbClr>
          </a:solidFill>
        </p:spPr>
      </p:sp>
      <p:sp>
        <p:nvSpPr>
          <p:cNvPr id="202" name=""/>
          <p:cNvSpPr/>
          <p:nvPr/>
        </p:nvSpPr>
        <p:spPr>
          <a:xfrm>
            <a:off x="7920000" y="1750000"/>
            <a:ext cx="3360000" cy="36000"/>
          </a:xfrm>
          <a:prstGeom prst="rect">
            <a:avLst/>
          </a:prstGeom>
          <a:solidFill>
            <a:srgbClr val="00C8FF">
              <a:alpha val="10000"/>
            </a:srgbClr>
          </a:solidFill>
        </p:spPr>
      </p:sp>
      <p:sp>
        <p:nvSpPr>
          <p:cNvPr id="302" name=""/>
          <p:cNvSpPr txBox="1"/>
          <p:nvPr/>
        </p:nvSpPr>
        <p:spPr>
          <a:xfrm>
            <a:off x="8000000" y="1860000"/>
            <a:ext cx="3200000" cy="360000"/>
          </a:xfrm>
          <a:prstGeom prst="rect">
            <a:avLst/>
          </a:prstGeom>
        </p:spPr>
        <p:txBody>
          <a:bodyPr wrap="square"/>
          <a:lstStyle/>
          <a:p>
            <a:pPr algn="l"/>
            <a:r>
              <a:rPr lang="zh-CN" sz="2000" b="1">
                <a:solidFill>
                  <a:srgbClr val="FFFFFF"/>
                </a:solidFill>
              </a:rPr>
              <a:t>项目 03</a:t>
            </a:r>
          </a:p>
        </p:txBody>
      </p:sp>
      <p:sp>
        <p:nvSpPr>
          <p:cNvPr id="402" name=""/>
          <p:cNvSpPr txBox="1"/>
          <p:nvPr/>
        </p:nvSpPr>
        <p:spPr>
          <a:xfrm>
            <a:off x="8000000" y="2300000"/>
            <a:ext cx="3200000" cy="1200000"/>
          </a:xfrm>
          <a:prstGeom prst="rect">
            <a:avLst/>
          </a:prstGeom>
        </p:spPr>
        <p:txBody>
          <a:bodyPr wrap="square"/>
          <a:lstStyle/>
          <a:p>
            <a:pPr algn="l"/>
            <a:r>
              <a:rPr lang="zh-CN" sz="1400">
                <a:solidFill>
                  <a:srgbClr val="A0A0BB"/>
                </a:solidFill>
              </a:rPr>
              <a:t>项目简介待填写</a:t>
            </a:r>
          </a:p>
          <a:p>
            <a:pPr algn="l"/>
            <a:r>
              <a:rPr lang="zh-CN" sz="800">
                <a:solidFill>
                  <a:srgbClr val="A0A0BB"/>
                </a:solidFill>
              </a:rPr>
              <a:t/>
            </a:r>
          </a:p>
          <a:p>
            <a:pPr algn="l"/>
            <a:r>
              <a:rPr lang="zh-CN" sz="1300">
                <a:solidFill>
                  <a:srgbClr val="00C8FF"/>
                </a:solidFill>
              </a:rPr>
              <a:t>核心成果：</a:t>
            </a:r>
          </a:p>
          <a:p>
            <a:pPr algn="l"/>
            <a:r>
              <a:rPr lang="zh-CN" sz="1300">
                <a:solidFill>
                  <a:srgbClr val="A0A0BB"/>
                </a:solidFill>
              </a:rPr>
              <a:t>数据指标待补充</a:t>
            </a:r>
          </a:p>
        </p:txBody>
      </p:sp>
      <p:sp>
        <p:nvSpPr>
          <p:cNvPr id="502" name=""/>
          <p:cNvSpPr txBox="1"/>
          <p:nvPr/>
        </p:nvSpPr>
        <p:spPr>
          <a:xfrm>
            <a:off x="8000000" y="3600000"/>
            <a:ext cx="3200000" cy="500000"/>
          </a:xfrm>
          <a:prstGeom prst="rect">
            <a:avLst/>
          </a:prstGeom>
        </p:spPr>
        <p:txBody>
          <a:bodyPr wrap="square"/>
          <a:lstStyle/>
          <a:p>
            <a:pPr algn="l"/>
            <a:r>
              <a:rPr lang="zh-CN" sz="1200">
                <a:solidFill>
                  <a:srgbClr val="707090"/>
                </a:solidFill>
              </a:rPr>
              <a:t>我的角色：待填写</a:t>
            </a:r>
          </a:p>
        </p:txBody>
      </p:sp>
    </p:spTree>
  </p:cSld>
</p:sld>
</file>

<file path=ppt/slides/slide7.xml><?xml version="1.0" encoding="utf-8"?>
<p:sld xmlns:p="http://schemas.openxmlformats.org/presentationml/2006/main" xmlns:a="http://schemas.openxmlformats.org/drawingml/2006/main">
  <p:cSld>
    <p:bg>
      <p:bgPr>
        <a:solidFill>
          <a:srgbClr val="080816"/>
        </a:solidFill>
      </p:bgPr>
    </p:bg>
    <p:spTree>
      <p:sp>
        <p:nvSpPr>
          <p:cNvPr id="1" name=""/>
          <p:cNvSpPr/>
          <p:nvPr/>
        </p:nvSpPr>
        <p:spPr>
          <a:xfrm>
            <a:off x="0" y="0"/>
            <a:ext cx="12192000" cy="48000"/>
          </a:xfrm>
          <a:prstGeom prst="rect">
            <a:avLst/>
          </a:prstGeom>
          <a:solidFill>
            <a:srgbClr val="00C8FF">
              <a:alpha val="10000"/>
            </a:srgbClr>
          </a:solidFill>
        </p:spPr>
      </p:sp>
      <p:sp>
        <p:nvSpPr>
          <p:cNvPr id="2" name=""/>
          <p:cNvSpPr txBox="1"/>
          <p:nvPr/>
        </p:nvSpPr>
        <p:spPr>
          <a:xfrm>
            <a:off x="400000" y="300000"/>
            <a:ext cx="3000000" cy="600000"/>
          </a:xfrm>
          <a:prstGeom prst="rect">
            <a:avLst/>
          </a:prstGeom>
        </p:spPr>
        <p:txBody>
          <a:bodyPr wrap="square"/>
          <a:lstStyle/>
          <a:p>
            <a:pPr algn="l"/>
            <a:r>
              <a:rPr lang="zh-CN" sz="3200" b="1">
                <a:solidFill>
                  <a:srgbClr val="FFFFFF"/>
                </a:solidFill>
              </a:rPr>
              <a:t>未来规划</a:t>
            </a:r>
          </a:p>
        </p:txBody>
      </p:sp>
      <p:sp>
        <p:nvSpPr>
          <p:cNvPr id="3" name=""/>
          <p:cNvSpPr/>
          <p:nvPr/>
        </p:nvSpPr>
        <p:spPr>
          <a:xfrm>
            <a:off x="400000" y="850000"/>
            <a:ext cx="800000" cy="36000"/>
          </a:xfrm>
          <a:prstGeom prst="rect">
            <a:avLst/>
          </a:prstGeom>
          <a:solidFill>
            <a:srgbClr val="00C8FF">
              <a:alpha val="10000"/>
            </a:srgbClr>
          </a:solidFill>
        </p:spPr>
      </p:sp>
      <p:sp>
        <p:nvSpPr>
          <p:cNvPr id="4" name=""/>
          <p:cNvSpPr txBox="1"/>
          <p:nvPr/>
        </p:nvSpPr>
        <p:spPr>
          <a:xfrm>
            <a:off x="400000" y="1100000"/>
            <a:ext cx="10000000" cy="500000"/>
          </a:xfrm>
          <a:prstGeom prst="rect">
            <a:avLst/>
          </a:prstGeom>
        </p:spPr>
        <p:txBody>
          <a:bodyPr wrap="square"/>
          <a:lstStyle/>
          <a:p>
            <a:pPr algn="l"/>
            <a:r>
              <a:rPr lang="zh-CN" sz="1600">
                <a:solidFill>
                  <a:srgbClr val="A0A0BB"/>
                </a:solidFill>
              </a:rPr>
              <a:t>三年三步走，从实训团队到标杆力量</a:t>
            </a:r>
          </a:p>
        </p:txBody>
      </p:sp>
      <p:sp>
        <p:nvSpPr>
          <p:cNvPr id="200" name=""/>
          <p:cNvSpPr/>
          <p:nvPr/>
        </p:nvSpPr>
        <p:spPr>
          <a:xfrm>
            <a:off x="300000" y="1900000"/>
            <a:ext cx="3500000" cy="4300000"/>
          </a:xfrm>
          <a:prstGeom prst="rect">
            <a:avLst/>
          </a:prstGeom>
          <a:solidFill>
            <a:srgbClr val="00C8FF">
              <a:alpha val="800"/>
            </a:srgbClr>
          </a:solidFill>
        </p:spPr>
      </p:sp>
      <p:sp>
        <p:nvSpPr>
          <p:cNvPr id="300" name=""/>
          <p:cNvSpPr txBox="1"/>
          <p:nvPr/>
        </p:nvSpPr>
        <p:spPr>
          <a:xfrm>
            <a:off x="500000" y="2100000"/>
            <a:ext cx="3100000" cy="500000"/>
          </a:xfrm>
          <a:prstGeom prst="rect">
            <a:avLst/>
          </a:prstGeom>
        </p:spPr>
        <p:txBody>
          <a:bodyPr wrap="square"/>
          <a:lstStyle/>
          <a:p>
            <a:pPr algn="l"/>
            <a:r>
              <a:rPr lang="zh-CN" sz="2200" b="1">
                <a:solidFill>
                  <a:srgbClr val="FFFFFF"/>
                </a:solidFill>
              </a:rPr>
              <a:t>短期</a:t>
            </a:r>
          </a:p>
          <a:p>
            <a:pPr algn="l"/>
            <a:r>
              <a:rPr lang="zh-CN" sz="1400">
                <a:solidFill>
                  <a:srgbClr val="A0A0BB"/>
                </a:solidFill>
              </a:rPr>
              <a:t>季度</a:t>
            </a:r>
          </a:p>
        </p:txBody>
      </p:sp>
      <p:sp>
        <p:nvSpPr>
          <p:cNvPr id="400" name=""/>
          <p:cNvSpPr/>
          <p:nvPr/>
        </p:nvSpPr>
        <p:spPr>
          <a:xfrm>
            <a:off x="500000" y="2650000"/>
            <a:ext cx="600000" cy="36000"/>
          </a:xfrm>
          <a:prstGeom prst="rect">
            <a:avLst/>
          </a:prstGeom>
          <a:solidFill>
            <a:srgbClr val="00C8FF">
              <a:alpha val="10000"/>
            </a:srgbClr>
          </a:solidFill>
        </p:spPr>
      </p:sp>
      <p:sp>
        <p:nvSpPr>
          <p:cNvPr id="500" name=""/>
          <p:cNvSpPr txBox="1"/>
          <p:nvPr/>
        </p:nvSpPr>
        <p:spPr>
          <a:xfrm>
            <a:off x="500000" y="2900000"/>
            <a:ext cx="3100000" cy="2800000"/>
          </a:xfrm>
          <a:prstGeom prst="rect">
            <a:avLst/>
          </a:prstGeom>
        </p:spPr>
        <p:txBody>
          <a:bodyPr wrap="square"/>
          <a:lstStyle/>
          <a:p>
            <a:pPr algn="l"/>
            <a:r>
              <a:rPr lang="zh-CN" sz="2200" b="1">
                <a:solidFill>
                  <a:srgbClr val="FFFFFF"/>
                </a:solidFill>
              </a:rPr>
              <a:t>完成实训项目</a:t>
            </a:r>
          </a:p>
          <a:p>
            <a:pPr algn="l"/>
            <a:r>
              <a:rPr lang="zh-CN" sz="2200" b="1">
                <a:solidFill>
                  <a:srgbClr val="FFFFFF"/>
                </a:solidFill>
              </a:rPr>
              <a:t>打磨团队流程</a:t>
            </a:r>
          </a:p>
          <a:p>
            <a:pPr algn="l"/>
            <a:r>
              <a:rPr lang="zh-CN" sz="2200" b="1">
                <a:solidFill>
                  <a:srgbClr val="FFFFFF"/>
                </a:solidFill>
              </a:rPr>
              <a:t>建立协作规范</a:t>
            </a:r>
          </a:p>
        </p:txBody>
      </p:sp>
      <p:sp>
        <p:nvSpPr>
          <p:cNvPr id="200" name=""/>
          <p:cNvSpPr/>
          <p:nvPr/>
        </p:nvSpPr>
        <p:spPr>
          <a:xfrm>
            <a:off x="4300000" y="1900000"/>
            <a:ext cx="3500000" cy="4300000"/>
          </a:xfrm>
          <a:prstGeom prst="rect">
            <a:avLst/>
          </a:prstGeom>
          <a:solidFill>
            <a:srgbClr val="7B3FFF">
              <a:alpha val="800"/>
            </a:srgbClr>
          </a:solidFill>
        </p:spPr>
      </p:sp>
      <p:sp>
        <p:nvSpPr>
          <p:cNvPr id="300" name=""/>
          <p:cNvSpPr txBox="1"/>
          <p:nvPr/>
        </p:nvSpPr>
        <p:spPr>
          <a:xfrm>
            <a:off x="4500000" y="2100000"/>
            <a:ext cx="3100000" cy="500000"/>
          </a:xfrm>
          <a:prstGeom prst="rect">
            <a:avLst/>
          </a:prstGeom>
        </p:spPr>
        <p:txBody>
          <a:bodyPr wrap="square"/>
          <a:lstStyle/>
          <a:p>
            <a:pPr algn="l"/>
            <a:r>
              <a:rPr lang="zh-CN" sz="2200" b="1">
                <a:solidFill>
                  <a:srgbClr val="FFFFFF"/>
                </a:solidFill>
              </a:rPr>
              <a:t>中期</a:t>
            </a:r>
          </a:p>
          <a:p>
            <a:pPr algn="l"/>
            <a:r>
              <a:rPr lang="zh-CN" sz="1400">
                <a:solidFill>
                  <a:srgbClr val="A0A0BB"/>
                </a:solidFill>
              </a:rPr>
              <a:t>1年</a:t>
            </a:r>
          </a:p>
        </p:txBody>
      </p:sp>
      <p:sp>
        <p:nvSpPr>
          <p:cNvPr id="400" name=""/>
          <p:cNvSpPr/>
          <p:nvPr/>
        </p:nvSpPr>
        <p:spPr>
          <a:xfrm>
            <a:off x="4500000" y="2650000"/>
            <a:ext cx="600000" cy="36000"/>
          </a:xfrm>
          <a:prstGeom prst="rect">
            <a:avLst/>
          </a:prstGeom>
          <a:solidFill>
            <a:srgbClr val="7B3FFF">
              <a:alpha val="10000"/>
            </a:srgbClr>
          </a:solidFill>
        </p:spPr>
      </p:sp>
      <p:sp>
        <p:nvSpPr>
          <p:cNvPr id="500" name=""/>
          <p:cNvSpPr txBox="1"/>
          <p:nvPr/>
        </p:nvSpPr>
        <p:spPr>
          <a:xfrm>
            <a:off x="4500000" y="2900000"/>
            <a:ext cx="3100000" cy="2800000"/>
          </a:xfrm>
          <a:prstGeom prst="rect">
            <a:avLst/>
          </a:prstGeom>
        </p:spPr>
        <p:txBody>
          <a:bodyPr wrap="square"/>
          <a:lstStyle/>
          <a:p>
            <a:pPr algn="l"/>
            <a:r>
              <a:rPr lang="zh-CN" sz="2200" b="1">
                <a:solidFill>
                  <a:srgbClr val="FFFFFF"/>
                </a:solidFill>
              </a:rPr>
              <a:t>构建知识库</a:t>
            </a:r>
          </a:p>
          <a:p>
            <a:pPr algn="l"/>
            <a:r>
              <a:rPr lang="zh-CN" sz="2200" b="1">
                <a:solidFill>
                  <a:srgbClr val="FFFFFF"/>
                </a:solidFill>
              </a:rPr>
              <a:t>孵化创业项目</a:t>
            </a:r>
          </a:p>
          <a:p>
            <a:pPr algn="l"/>
            <a:r>
              <a:rPr lang="zh-CN" sz="2200" b="1">
                <a:solidFill>
                  <a:srgbClr val="FFFFFF"/>
                </a:solidFill>
              </a:rPr>
              <a:t>扩大影响力</a:t>
            </a:r>
          </a:p>
        </p:txBody>
      </p:sp>
      <p:sp>
        <p:nvSpPr>
          <p:cNvPr id="200" name=""/>
          <p:cNvSpPr/>
          <p:nvPr/>
        </p:nvSpPr>
        <p:spPr>
          <a:xfrm>
            <a:off x="8300000" y="1900000"/>
            <a:ext cx="3500000" cy="4300000"/>
          </a:xfrm>
          <a:prstGeom prst="rect">
            <a:avLst/>
          </a:prstGeom>
          <a:solidFill>
            <a:srgbClr val="00C8FF">
              <a:alpha val="800"/>
            </a:srgbClr>
          </a:solidFill>
        </p:spPr>
      </p:sp>
      <p:sp>
        <p:nvSpPr>
          <p:cNvPr id="300" name=""/>
          <p:cNvSpPr txBox="1"/>
          <p:nvPr/>
        </p:nvSpPr>
        <p:spPr>
          <a:xfrm>
            <a:off x="8500000" y="2100000"/>
            <a:ext cx="3100000" cy="500000"/>
          </a:xfrm>
          <a:prstGeom prst="rect">
            <a:avLst/>
          </a:prstGeom>
        </p:spPr>
        <p:txBody>
          <a:bodyPr wrap="square"/>
          <a:lstStyle/>
          <a:p>
            <a:pPr algn="l"/>
            <a:r>
              <a:rPr lang="zh-CN" sz="2200" b="1">
                <a:solidFill>
                  <a:srgbClr val="FFFFFF"/>
                </a:solidFill>
              </a:rPr>
              <a:t>长期</a:t>
            </a:r>
          </a:p>
          <a:p>
            <a:pPr algn="l"/>
            <a:r>
              <a:rPr lang="zh-CN" sz="1400">
                <a:solidFill>
                  <a:srgbClr val="A0A0BB"/>
                </a:solidFill>
              </a:rPr>
              <a:t>3年</a:t>
            </a:r>
          </a:p>
        </p:txBody>
      </p:sp>
      <p:sp>
        <p:nvSpPr>
          <p:cNvPr id="400" name=""/>
          <p:cNvSpPr/>
          <p:nvPr/>
        </p:nvSpPr>
        <p:spPr>
          <a:xfrm>
            <a:off x="8500000" y="2650000"/>
            <a:ext cx="600000" cy="36000"/>
          </a:xfrm>
          <a:prstGeom prst="rect">
            <a:avLst/>
          </a:prstGeom>
          <a:solidFill>
            <a:srgbClr val="00C8FF">
              <a:alpha val="10000"/>
            </a:srgbClr>
          </a:solidFill>
        </p:spPr>
      </p:sp>
      <p:sp>
        <p:nvSpPr>
          <p:cNvPr id="500" name=""/>
          <p:cNvSpPr txBox="1"/>
          <p:nvPr/>
        </p:nvSpPr>
        <p:spPr>
          <a:xfrm>
            <a:off x="8500000" y="2900000"/>
            <a:ext cx="3100000" cy="2800000"/>
          </a:xfrm>
          <a:prstGeom prst="rect">
            <a:avLst/>
          </a:prstGeom>
        </p:spPr>
        <p:txBody>
          <a:bodyPr wrap="square"/>
          <a:lstStyle/>
          <a:p>
            <a:pPr algn="l"/>
            <a:r>
              <a:rPr lang="zh-CN" sz="2200" b="1">
                <a:solidFill>
                  <a:srgbClr val="FFFFFF"/>
                </a:solidFill>
              </a:rPr>
              <a:t>成为高校标杆</a:t>
            </a:r>
          </a:p>
          <a:p>
            <a:pPr algn="l"/>
            <a:r>
              <a:rPr lang="zh-CN" sz="2200" b="1">
                <a:solidFill>
                  <a:srgbClr val="FFFFFF"/>
                </a:solidFill>
              </a:rPr>
              <a:t>持续输出价值</a:t>
            </a:r>
          </a:p>
          <a:p>
            <a:pPr algn="l"/>
            <a:r>
              <a:rPr lang="zh-CN" sz="2200" b="1">
                <a:solidFill>
                  <a:srgbClr val="FFFFFF"/>
                </a:solidFill>
              </a:rPr>
              <a:t>反哺实训生态</a:t>
            </a:r>
          </a:p>
        </p:txBody>
      </p:sp>
      <p:sp>
        <p:nvSpPr>
          <p:cNvPr id="600" name=""/>
          <p:cNvSpPr txBox="1"/>
          <p:nvPr/>
        </p:nvSpPr>
        <p:spPr>
          <a:xfrm>
            <a:off x="3800000" y="3800000"/>
            <a:ext cx="400000" cy="400000"/>
          </a:xfrm>
          <a:prstGeom prst="rect">
            <a:avLst/>
          </a:prstGeom>
        </p:spPr>
        <p:txBody>
          <a:bodyPr wrap="square"/>
          <a:lstStyle/>
          <a:p>
            <a:pPr algn="ctr"/>
            <a:r>
              <a:rPr lang="zh-CN" sz="2800" b="1">
                <a:solidFill>
                  <a:srgbClr val="00C8FF"/>
                </a:solidFill>
              </a:rPr>
              <a:t>&gt;&gt;</a:t>
            </a:r>
          </a:p>
        </p:txBody>
      </p:sp>
      <p:sp>
        <p:nvSpPr>
          <p:cNvPr id="601" name=""/>
          <p:cNvSpPr txBox="1"/>
          <p:nvPr/>
        </p:nvSpPr>
        <p:spPr>
          <a:xfrm>
            <a:off x="7700000" y="3800000"/>
            <a:ext cx="400000" cy="400000"/>
          </a:xfrm>
          <a:prstGeom prst="rect">
            <a:avLst/>
          </a:prstGeom>
        </p:spPr>
        <p:txBody>
          <a:bodyPr wrap="square"/>
          <a:lstStyle/>
          <a:p>
            <a:pPr algn="ctr"/>
            <a:r>
              <a:rPr lang="zh-CN" sz="2800" b="1">
                <a:solidFill>
                  <a:srgbClr val="00C8FF"/>
                </a:solidFill>
              </a:rPr>
              <a:t>&gt;&gt;</a:t>
            </a:r>
          </a:p>
        </p:txBody>
      </p:sp>
    </p:spTree>
  </p:cSld>
</p:sld>
</file>

<file path=ppt/slides/slide8.xml><?xml version="1.0" encoding="utf-8"?>
<p:sld xmlns:p="http://schemas.openxmlformats.org/presentationml/2006/main" xmlns:a="http://schemas.openxmlformats.org/drawingml/2006/main">
  <p:cSld>
    <p:bg>
      <p:bgPr>
        <a:solidFill>
          <a:srgbClr val="080816"/>
        </a:solidFill>
      </p:bgPr>
    </p:bg>
    <p:spTree>
      <p:sp>
        <p:nvSpPr>
          <p:cNvPr id="1" name=""/>
          <p:cNvSpPr/>
          <p:nvPr/>
        </p:nvSpPr>
        <p:spPr>
          <a:xfrm>
            <a:off x="0" y="0"/>
            <a:ext cx="12192000" cy="48000"/>
          </a:xfrm>
          <a:prstGeom prst="rect">
            <a:avLst/>
          </a:prstGeom>
          <a:solidFill>
            <a:srgbClr val="00C8FF">
              <a:alpha val="10000"/>
            </a:srgbClr>
          </a:solidFill>
        </p:spPr>
      </p:sp>
      <p:sp>
        <p:nvSpPr>
          <p:cNvPr id="2" name=""/>
          <p:cNvSpPr/>
          <p:nvPr/>
        </p:nvSpPr>
        <p:spPr>
          <a:xfrm>
            <a:off x="5596000" y="829000"/>
            <a:ext cx="1000000" cy="1000000"/>
          </a:xfrm>
          <a:prstGeom prst="rect">
            <a:avLst/>
          </a:prstGeom>
          <a:solidFill>
            <a:srgbClr val="00C8FF">
              <a:alpha val="800"/>
            </a:srgbClr>
          </a:solidFill>
        </p:spPr>
      </p:sp>
      <p:sp>
        <p:nvSpPr>
          <p:cNvPr id="3" name=""/>
          <p:cNvSpPr txBox="1"/>
          <p:nvPr/>
        </p:nvSpPr>
        <p:spPr>
          <a:xfrm>
            <a:off x="5636000" y="909000"/>
            <a:ext cx="920000" cy="920000"/>
          </a:xfrm>
          <a:prstGeom prst="rect">
            <a:avLst/>
          </a:prstGeom>
        </p:spPr>
        <p:txBody>
          <a:bodyPr wrap="square"/>
          <a:lstStyle/>
          <a:p>
            <a:pPr algn="ctr"/>
            <a:r>
              <a:rPr lang="zh-CN" sz="5200" b="1">
                <a:solidFill>
                  <a:srgbClr val="FFFFFF"/>
                </a:solidFill>
              </a:rPr>
              <a:t>N</a:t>
            </a:r>
          </a:p>
        </p:txBody>
      </p:sp>
      <p:sp>
        <p:nvSpPr>
          <p:cNvPr id="10" name=""/>
          <p:cNvSpPr txBox="1"/>
          <p:nvPr/>
        </p:nvSpPr>
        <p:spPr>
          <a:xfrm>
            <a:off x="2096000" y="2429000"/>
            <a:ext cx="8000000" cy="800000"/>
          </a:xfrm>
          <a:prstGeom prst="rect">
            <a:avLst/>
          </a:prstGeom>
        </p:spPr>
        <p:txBody>
          <a:bodyPr wrap="square"/>
          <a:lstStyle/>
          <a:p>
            <a:pPr algn="ctr"/>
            <a:r>
              <a:rPr lang="zh-CN" sz="4800" b="1">
                <a:solidFill>
                  <a:srgbClr val="FFFFFF"/>
                </a:solidFill>
              </a:rPr>
              <a:t>星核创研</a:t>
            </a:r>
          </a:p>
        </p:txBody>
      </p:sp>
      <p:sp>
        <p:nvSpPr>
          <p:cNvPr id="11" name=""/>
          <p:cNvSpPr txBox="1"/>
          <p:nvPr/>
        </p:nvSpPr>
        <p:spPr>
          <a:xfrm>
            <a:off x="2096000" y="3329000"/>
            <a:ext cx="8000000" cy="400000"/>
          </a:xfrm>
          <a:prstGeom prst="rect">
            <a:avLst/>
          </a:prstGeom>
        </p:spPr>
        <p:txBody>
          <a:bodyPr wrap="square"/>
          <a:lstStyle/>
          <a:p>
            <a:pPr algn="ctr"/>
            <a:r>
              <a:rPr lang="zh-CN" sz="1600">
                <a:solidFill>
                  <a:srgbClr val="A0A0BB"/>
                </a:solidFill>
              </a:rPr>
              <a:t>NOVACORE LAB</a:t>
            </a:r>
          </a:p>
        </p:txBody>
      </p:sp>
      <p:sp>
        <p:nvSpPr>
          <p:cNvPr id="12" name=""/>
          <p:cNvSpPr/>
          <p:nvPr/>
        </p:nvSpPr>
        <p:spPr>
          <a:xfrm>
            <a:off x="5296000" y="3929000"/>
            <a:ext cx="1600000" cy="40000"/>
          </a:xfrm>
          <a:prstGeom prst="rect">
            <a:avLst/>
          </a:prstGeom>
          <a:solidFill>
            <a:srgbClr val="00C8FF">
              <a:alpha val="10000"/>
            </a:srgbClr>
          </a:solidFill>
        </p:spPr>
      </p:sp>
      <p:sp>
        <p:nvSpPr>
          <p:cNvPr id="13" name=""/>
          <p:cNvSpPr txBox="1"/>
          <p:nvPr/>
        </p:nvSpPr>
        <p:spPr>
          <a:xfrm>
            <a:off x="2096000" y="4129000"/>
            <a:ext cx="8000000" cy="500000"/>
          </a:xfrm>
          <a:prstGeom prst="rect">
            <a:avLst/>
          </a:prstGeom>
        </p:spPr>
        <p:txBody>
          <a:bodyPr wrap="square"/>
          <a:lstStyle/>
          <a:p>
            <a:pPr algn="ctr"/>
            <a:r>
              <a:rPr lang="zh-CN" sz="2400" b="1">
                <a:solidFill>
                  <a:srgbClr val="00C8FF"/>
                </a:solidFill>
              </a:rPr>
              <a:t>聚星成核  创见未来</a:t>
            </a:r>
          </a:p>
        </p:txBody>
      </p:sp>
      <p:sp>
        <p:nvSpPr>
          <p:cNvPr id="14" name=""/>
          <p:cNvSpPr txBox="1"/>
          <p:nvPr/>
        </p:nvSpPr>
        <p:spPr>
          <a:xfrm>
            <a:off x="2096000" y="4929000"/>
            <a:ext cx="8000000" cy="800000"/>
          </a:xfrm>
          <a:prstGeom prst="rect">
            <a:avLst/>
          </a:prstGeom>
        </p:spPr>
        <p:txBody>
          <a:bodyPr wrap="square"/>
          <a:lstStyle/>
          <a:p>
            <a:pPr algn="ctr"/>
            <a:r>
              <a:rPr lang="zh-CN" sz="2000">
                <a:solidFill>
                  <a:srgbClr val="A0A0BB"/>
                </a:solidFill>
              </a:rPr>
              <a:t>感谢聆听</a:t>
            </a:r>
          </a:p>
          <a:p>
            <a:pPr algn="ctr"/>
            <a:r>
              <a:rPr lang="zh-CN" sz="800">
                <a:solidFill>
                  <a:srgbClr val="A0A0BB"/>
                </a:solidFill>
              </a:rPr>
              <a:t/>
            </a:r>
          </a:p>
          <a:p>
            <a:pPr algn="ctr"/>
            <a:r>
              <a:rPr lang="zh-CN" sz="1300">
                <a:solidFill>
                  <a:srgbClr val="707090"/>
                </a:solidFill>
              </a:rPr>
              <a:t>novacore@team.cn</a:t>
            </a:r>
          </a:p>
        </p:txBody>
      </p:sp>
      <p:sp>
        <p:nvSpPr>
          <p:cNvPr id="15" name=""/>
          <p:cNvSpPr/>
          <p:nvPr/>
        </p:nvSpPr>
        <p:spPr>
          <a:xfrm>
            <a:off x="0" y="6798000"/>
            <a:ext cx="12192000" cy="48000"/>
          </a:xfrm>
          <a:prstGeom prst="rect">
            <a:avLst/>
          </a:prstGeom>
          <a:solidFill>
            <a:srgbClr val="00C8FF">
              <a:alpha val="10000"/>
            </a:srgbClr>
          </a:solidFill>
        </p:spPr>
      </p:sp>
    </p:spTree>
  </p:cSld>
</p:sld>
</file>

<file path=ppt/theme/theme1.xml><?xml version="1.0" encoding="utf-8"?>
<a:theme xmlns:a="http://schemas.openxmlformats.org/drawingml/2006/main" name="NovaCoreDark">
  <a:themeElements>
    <a:clrScheme name="NovaCore">
      <a:dk1>
        <a:srgbClr val="FFFFFF"/>
      </a:dk1>
      <a:lt1>
        <a:srgbClr val="080816"/>
      </a:lt1>
      <a:dk2>
        <a:srgbClr val="E0E0E8"/>
      </a:dk2>
      <a:lt2>
        <a:srgbClr val="1A1A2E"/>
      </a:lt2>
      <a:accent1>
        <a:srgbClr val="00C8FF"/>
      </a:accent1>
      <a:accent2>
        <a:srgbClr val="7B3FFF"/>
      </a:accent2>
      <a:accent3>
        <a:srgbClr val="F0C040"/>
      </a:accent3>
    </a:clrScheme>
    <a:fontScheme name="NovaCore">
      <a:majorFont>
        <a:ea typeface="PingFang SC"/>
        <a:latin typeface="Segoe UI"/>
      </a:majorFont>
      <a:minorFont>
        <a:ea typeface="Microsoft YaHei"/>
        <a:latin typeface="Segoe UI"/>
      </a:minorFont>
    </a:fontScheme>
  </a:themeElements>
</a:theme>
</file>

<file path=docProps/app.xml><?xml version="1.0" encoding="utf-8"?>
<Properties xmlns="http://schemas.openxmlformats.org/officeDocument/2006/extended-properties">
  <Application>NovaCore Lab</Application>
  <Slides>8</Slides>
</Properties>
</file>

<file path=docProps/core.xml><?xml version="1.0" encoding="utf-8"?>
<cp:coreProperties xmlns:cp="http://schemas.openxmlformats.org/package/2006/metadata/core-properties" xmlns:dc="http://purl.org/dc/elements/1.1/">
  <dc:title>星核创研 小组介绍</dc:title>
  <dc:creator>NovaCore Lab</dc:creator>
</cp:coreProperties>
</file>